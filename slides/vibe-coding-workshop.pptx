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91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93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5643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開場先問一句：今天在座有多少人自己做過網頁？通常是零。這正是重點——三小時後，每個人手上都會有一個能打開給主管看的東西。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強調：四階段是疊加，不是四個獨立主題。每一階段只多學一件事。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F1A62-D0A2-902F-3933-82BD7847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DF2F1C-F6D9-9163-D5EF-92CD293706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6BCA-A4CC-7C63-84EC-780E9538FD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強調：四階段是疊加，不是四個獨立主題。每一階段只多學一件事。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40FCBB-26F2-7DC7-C4FA-54BBF4D57E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518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這頁是全場最重要的期待管理。非資訊背景學員最怕的就是「看不懂 code」，先把這個焦慮拆掉。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先給成品，再講怎麼做。學員看到具體目標才有動力聽觀念。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讓學員唸一次那句話。他們會發現這根本不是技術語言，就是日常工作語言。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現場可以真的跑一次左邊的指令，讓學員看到通用結果有多空洞，再跑右邊。對比最有說服力。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請學員拿紙筆，把自己的案子按這四點寫下來。寫完直接貼進 AI，這就是第一次實作。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巡場重點：卡住的人多半是「不知道要做什麼」，不是不會下指令。直接幫他挑一個題目。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第一點最重要。學員常以為不滿意就要整個重來，其實對話可以持續修正——這也是 Stage 02 的鋪陳。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這一頁的情緒點是「擁有感」。放自己拍的工地照片，學員的態度會明顯不一樣。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這句話是整個 Stage 02 的核心。講完先停一下，讓它沉下去再往下走。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最後這句是實務上最常出包的地方，一定要講。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不用教 HTML 語法，只要讓他們認得 src 這個字，以及斜線代表「資料夾裡面」。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2DD1B-F4B2-8739-4845-30DCCDB02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5DC682-68A2-2E34-810E-A543676F1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2C1A8-C768-8025-0875-C209A7CE1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巡場重點：卡住的人多半是「不知道要做什麼」，不是不會下指令。直接幫他挑一個題目。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F4050-AA25-EF74-E353-B7ADE9007A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2606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最後那句要用力講——它把 Stage 02 扣回課程主軸：不會做就描述需求。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建議現場故意打錯一次檔名，讓學員看到破圖，再修好。體驗過一次比講三遍有用。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可以先投影一份真的 Excel，再切到這頁。落差感很強。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很多學員會覺得「資料」是個很技術的詞。要把它拉回「你每週在填的那張表」。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 Stage 03 最實用的內容。多數人做不出好圖表，問題出在資料，不在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帶學員看一次自己的表：哪一欄是要被強調的？那就是 KPI。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務必準備好範例 CSV，一定會有人沒帶資料。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刻意讓學員感受到痛點，Stage 04 的價值才會被看見。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現場一定要示範上傳一次。看到數字整排跳動的瞬間，是全場反應最大的地方。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把兩個網頁並排開兩個分頁對照，比投影片有效。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不要把「做不到」講成缺點。週報、月報本來就是快照，這個做法完全match真實工作情境。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這頁的作用是讓學員不要對這套方法過度期待，也不要低估自己已經能做的事。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務必在學員動手前講。不然會有一半的人卡在亂碼，時間全部耗在這裡。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留最後十分鐘讓幾位學員分享自己做的東西，收尾效果最好。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回顧時強調：這四件事沒有一件需要記語法。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鼓勵當場認領一件，散會前寫在便利貼上。有承諾才有後續。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收尾不要再講技術。留一句能帶回去的話就好。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kern="0" spc="30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應用工作坊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943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 err="1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三小時</a:t>
            </a:r>
            <a:r>
              <a:rPr lang="zh-TW" altLang="en-US" sz="6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學會與</a:t>
            </a:r>
            <a:r>
              <a:rPr lang="en-US" altLang="zh-TW" sz="6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6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協作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9436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kern="0" spc="200" dirty="0">
                <a:solidFill>
                  <a:srgbClr val="A5A79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Coding, Just Talking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4360" y="4754880"/>
            <a:ext cx="2926080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全程以「沐森」建案為例，四個階段逐步累積</a:t>
            </a:r>
            <a:endParaRPr lang="en-US" sz="13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A13BE08-C1A4-B4D2-9D07-3FD0DF6F8ED5}"/>
              </a:ext>
            </a:extLst>
          </p:cNvPr>
          <p:cNvSpPr/>
          <p:nvPr/>
        </p:nvSpPr>
        <p:spPr>
          <a:xfrm>
            <a:off x="9007254" y="5891701"/>
            <a:ext cx="3301312" cy="57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</a:rPr>
              <a:t>主講</a:t>
            </a:r>
            <a:r>
              <a:rPr lang="en-US" altLang="zh-TW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</a:rPr>
              <a:t> 李家瑩教授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甚麼是生成式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81325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92424" y="2181325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2181325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88552" y="2181325"/>
            <a:ext cx="2578608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71AE3265-6E7E-A681-A689-99F5275F5402}"/>
              </a:ext>
            </a:extLst>
          </p:cNvPr>
          <p:cNvSpPr/>
          <p:nvPr/>
        </p:nvSpPr>
        <p:spPr>
          <a:xfrm>
            <a:off x="1252728" y="1769845"/>
            <a:ext cx="1177651" cy="338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ChatGPT</a:t>
            </a:r>
            <a:endParaRPr lang="en-US" sz="19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7D34C1CF-6CBC-395D-01B0-BEC86A772C83}"/>
              </a:ext>
            </a:extLst>
          </p:cNvPr>
          <p:cNvSpPr/>
          <p:nvPr/>
        </p:nvSpPr>
        <p:spPr>
          <a:xfrm>
            <a:off x="868679" y="2461781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學習模式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 大量閱讀、觀看人類創作並自行學習規律的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AI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類型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FE5590D9-F2CC-A221-66CA-CAEDF2267E00}"/>
              </a:ext>
            </a:extLst>
          </p:cNvPr>
          <p:cNvSpPr/>
          <p:nvPr/>
        </p:nvSpPr>
        <p:spPr>
          <a:xfrm>
            <a:off x="4298723" y="1779069"/>
            <a:ext cx="1177651" cy="338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</a:t>
            </a:r>
            <a:endParaRPr lang="en-US" sz="1900" dirty="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12DB5598-03E4-BB68-301B-108DA29D77E1}"/>
              </a:ext>
            </a:extLst>
          </p:cNvPr>
          <p:cNvSpPr/>
          <p:nvPr/>
        </p:nvSpPr>
        <p:spPr>
          <a:xfrm>
            <a:off x="7104087" y="1780673"/>
            <a:ext cx="1177651" cy="338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</a:t>
            </a:r>
            <a:endParaRPr lang="en-US" sz="1900" dirty="0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9CF46B28-21E9-B5A9-32A8-7AAD765A5662}"/>
              </a:ext>
            </a:extLst>
          </p:cNvPr>
          <p:cNvSpPr/>
          <p:nvPr/>
        </p:nvSpPr>
        <p:spPr>
          <a:xfrm>
            <a:off x="9761621" y="1777062"/>
            <a:ext cx="1177651" cy="338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DeepSeek</a:t>
            </a:r>
            <a:endParaRPr lang="en-US" sz="1900" dirty="0"/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40A88B67-8A23-B1B5-5C96-784F2A8EDDBB}"/>
              </a:ext>
            </a:extLst>
          </p:cNvPr>
          <p:cNvSpPr/>
          <p:nvPr/>
        </p:nvSpPr>
        <p:spPr>
          <a:xfrm>
            <a:off x="868679" y="3279588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接收提示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 透過文字或指令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(Prompt)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提出需求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7F0AEC95-D01C-1C62-AC88-4D82E49C06B8}"/>
              </a:ext>
            </a:extLst>
          </p:cNvPr>
          <p:cNvSpPr/>
          <p:nvPr/>
        </p:nvSpPr>
        <p:spPr>
          <a:xfrm>
            <a:off x="868679" y="4097395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創造輸出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 依據學習經驗與提示指令，產出獨一無二且符合你要求的文字、圖片、報告、程式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41" name="Text 6">
            <a:extLst>
              <a:ext uri="{FF2B5EF4-FFF2-40B4-BE49-F238E27FC236}">
                <a16:creationId xmlns:a16="http://schemas.microsoft.com/office/drawing/2014/main" id="{2F9005A5-BE65-FFD2-3257-1FB7CA9878F9}"/>
              </a:ext>
            </a:extLst>
          </p:cNvPr>
          <p:cNvSpPr/>
          <p:nvPr/>
        </p:nvSpPr>
        <p:spPr>
          <a:xfrm>
            <a:off x="868679" y="5239031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提示種類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: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 文字、圖片、檔案、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AI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對你的記憶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597E010B-44C1-3178-D6CB-AA9F5BD45A46}"/>
              </a:ext>
            </a:extLst>
          </p:cNvPr>
          <p:cNvSpPr/>
          <p:nvPr/>
        </p:nvSpPr>
        <p:spPr>
          <a:xfrm>
            <a:off x="738739" y="6016752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Key Point: </a:t>
            </a:r>
            <a:r>
              <a:rPr lang="zh-TW" alt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</a:t>
            </a:r>
            <a:r>
              <a:rPr lang="en-US" altLang="zh-TW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當成你的個人虛擬同事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70BA52-0EF6-A9B4-B597-0FD0B2F81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C85D19E-4DB8-257F-BEF6-013F2D96F687}"/>
              </a:ext>
            </a:extLst>
          </p:cNvPr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甚麼是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Vibe Coding(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氛圍編程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DF6A2F6-C0AF-29C3-AB49-5979F2811D37}"/>
              </a:ext>
            </a:extLst>
          </p:cNvPr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272E5501-8B81-E62C-8BC8-38235F641560}"/>
              </a:ext>
            </a:extLst>
          </p:cNvPr>
          <p:cNvSpPr/>
          <p:nvPr/>
        </p:nvSpPr>
        <p:spPr>
          <a:xfrm>
            <a:off x="868679" y="2081703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不用會寫程式、月說的方式，讓</a:t>
            </a:r>
            <a:r>
              <a:rPr lang="en-US" altLang="zh-TW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AI</a:t>
            </a: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成為你的專屬工程師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D412F885-9958-6EDE-5695-002029C2898C}"/>
              </a:ext>
            </a:extLst>
          </p:cNvPr>
          <p:cNvSpPr/>
          <p:nvPr/>
        </p:nvSpPr>
        <p:spPr>
          <a:xfrm>
            <a:off x="868679" y="2899510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像是建築師，由你負責設計方向與監工審核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631AEADB-C8B9-7CB3-1122-37AC5751B5B3}"/>
              </a:ext>
            </a:extLst>
          </p:cNvPr>
          <p:cNvSpPr/>
          <p:nvPr/>
        </p:nvSpPr>
        <p:spPr>
          <a:xfrm>
            <a:off x="868679" y="3717317"/>
            <a:ext cx="9833410" cy="582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</a:rPr>
              <a:t>幾分鐘之內就可以把一個點子變成一個可以運作的報告、網頁或是小工具</a:t>
            </a:r>
            <a:endParaRPr lang="en-US" sz="28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FDF6E979-157C-3894-187E-B3E9FE992FA8}"/>
              </a:ext>
            </a:extLst>
          </p:cNvPr>
          <p:cNvSpPr/>
          <p:nvPr/>
        </p:nvSpPr>
        <p:spPr>
          <a:xfrm>
            <a:off x="738739" y="5024628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700" b="1" i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想像力就是你的超能力</a:t>
            </a:r>
            <a:endParaRPr lang="en-US" sz="1700" i="1" dirty="0"/>
          </a:p>
        </p:txBody>
      </p:sp>
    </p:spTree>
    <p:extLst>
      <p:ext uri="{BB962C8B-B14F-4D97-AF65-F5344CB8AC3E}">
        <p14:creationId xmlns:p14="http://schemas.microsoft.com/office/powerpoint/2010/main" val="2659348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期待</a:t>
            </a:r>
            <a:r>
              <a:rPr lang="zh-TW" alt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先說清楚：今天不教你寫程式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65960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今天教的是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怎麼把「你要什麼」講清楚給 AI 聽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304495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04495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今天不教的是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20440" y="3044952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HTML、CSS、JavaScript 的語法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4360" y="4123944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12394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你需要準備的是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20440" y="4123944"/>
            <a:ext cx="7711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一份自己部門的資料，或一個想做的東西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" y="539496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會下指令的人，不需要會寫程式，也做得出東西</a:t>
            </a:r>
            <a:r>
              <a:rPr lang="en-US" sz="17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資訊網站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D0A7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把一段描述變成一個網頁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這一段的重點是「怎麼說」，不是「怎麼寫」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kern="0" spc="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</a:rPr>
              <a:t>範例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7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沐森建案</a:t>
            </a:r>
            <a:endParaRPr lang="en-US" sz="7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94360" y="32004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一整份建案介紹網頁：建案名、生活尺度、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理念、規劃特色、格局表、聯絡方式。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從頭到尾沒有寫一行程式碼。</a:t>
            </a:r>
            <a:endParaRPr lang="en-US" sz="15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66C607D-AE2B-3F4F-35FD-A3D021F83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3838" y="0"/>
            <a:ext cx="673816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核心觀念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你不是在寫程式，是在描述需求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96596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2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「幫我做一個建案介紹網頁，建案叫沐森，在台中七期，主打面湖景觀，要有格局表和生活機能。」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361188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你已經懂了建案的基本知識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4251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你已經有的能力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清楚描述一個建案該有什麼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4251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44805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今天要練的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4846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把這個描述講得讓 AI 接得住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同樣一件事，兩種說法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太模糊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「幫我做一個建案網站」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只能自己猜：什麼建案、賣點在哪、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要放哪些內容、給誰看。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結果就是一個很通用、跟你的案子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沒什麼關係的網頁。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2128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講清楚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「沐森，台中七期，低層電梯宅，主打面湖景觀。要有建案理念、格局表、生活機能、聯絡方式。調性沉靜有質感，不要像廣告傳單。」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49377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</a:t>
            </a:r>
            <a:r>
              <a:rPr lang="zh-TW" alt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一些</a:t>
            </a:r>
            <a:r>
              <a:rPr lang="en-US" sz="1400" b="1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</a:t>
            </a: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</a:t>
            </a:r>
            <a:r>
              <a:rPr lang="en-US" sz="1400" b="1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省下反覆重做的時間</a:t>
            </a: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檢查清單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一個好指令，講滿這四件事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做什麼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794760" y="196596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一頁建案介紹網站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926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92608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94760" y="292608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沐森，台中七期，低層電梯宅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要有什麼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94760" y="388620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理念、特色、格局表、生活機能、聯絡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846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84632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什麼調性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794760" y="484632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沉靜有質感，不要像廣告傳單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4360" y="58064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58064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四件事都講到</a:t>
            </a:r>
            <a:r>
              <a:rPr lang="zh-TW" altLang="en-US" sz="15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的話</a:t>
            </a:r>
            <a:r>
              <a:rPr lang="en-US" sz="15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，AI 第一次給的結果通常就有八成可用。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換你說說看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20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148840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把這段填完，直接貼給 AI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606040"/>
            <a:ext cx="10088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幫我做一個一頁式的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「＿＿＿＿」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介紹網頁。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它在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，主打的是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網頁要有：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＿＿＿＿、＿＿＿＿、＿＿＿＿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  <a:p>
            <a:pPr marL="0" indent="0">
              <a:lnSpc>
                <a:spcPts val="4000"/>
              </a:lnSpc>
              <a:buNone/>
            </a:pP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</a:t>
            </a:r>
            <a:r>
              <a:rPr lang="en-US" sz="1900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希望是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49834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不一定要是建案 —— </a:t>
            </a:r>
            <a:r>
              <a:rPr lang="en-US" sz="1500" dirty="0" err="1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部門介紹、活動報名、產品說明都可以。挑真的用得到的</a:t>
            </a:r>
            <a:r>
              <a:rPr lang="zh-TW" alt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</a:t>
            </a: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55321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做出來之後，先別急著調細節。整體對了再修。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卡住的時候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給的不是你要的？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377440"/>
            <a:ext cx="256032" cy="256032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21122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不要重寫，用改的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2532888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「其他都好，只要把格局表改成四欄」——AI 會只動那一塊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3264408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675888"/>
            <a:ext cx="256032" cy="256032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1" name="Text 9"/>
          <p:cNvSpPr/>
          <p:nvPr/>
        </p:nvSpPr>
        <p:spPr>
          <a:xfrm>
            <a:off x="1508760" y="34107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說「不要什麼」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3831336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「顏色太花，改成低彩度」比「弄好看一點」有用得多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4562856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" y="4974336"/>
            <a:ext cx="256032" cy="256032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5" name="Text 13"/>
          <p:cNvSpPr/>
          <p:nvPr/>
        </p:nvSpPr>
        <p:spPr>
          <a:xfrm>
            <a:off x="1508760" y="4709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給它參考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08760" y="5129784"/>
            <a:ext cx="9418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「像 ○○ 那種質感」——有具體對象，AI 抓得比較準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加上自己的圖片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D0A7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把你部門拍的照片放上去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重點：網頁跟圖片檔，是怎麼連在一起的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525510" y="144145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8525510" y="185293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同一個網站，</a:t>
            </a:r>
            <a:endParaRPr lang="en-US" sz="28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換上自己的照片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8525510" y="340741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文字、版面完全沒動。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只是多了資料夾裡的圖片檔。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從這一刻起，它不再是範例，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</a:t>
            </a:r>
            <a:r>
              <a:rPr lang="zh-TW" alt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真實的網站</a:t>
            </a:r>
            <a:endParaRPr lang="en-US" sz="1500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DD65B99-D67E-E8DF-9787-47AD5DAA0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1590"/>
            <a:ext cx="7328913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核心觀念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網頁不會把圖片存在裡面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11680"/>
            <a:ext cx="11002975" cy="1417320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它只記住一件事：這張圖放在哪、叫什麼名字。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所以換照片，其實不用改網頁 —— 把檔案換掉就好。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348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7840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index.html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決定版面長什麼樣、文字寫什麼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4348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46451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圖片資料夾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01968" y="50292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images/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5413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放照片，網頁到這裡來拿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資料夾結構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r>
              <a:rPr lang="en-US" altLang="zh-TW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: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32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603504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40280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b="1" dirty="0">
                <a:solidFill>
                  <a:srgbClr val="1B1C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沐森網站/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index.html         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網頁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images/            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圖片資料夾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hero.jpg      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首圖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interior-1.jpg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客廳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├─ interior-2.jpg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主臥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└─ interior-3.jpg </a:t>
            </a:r>
            <a:r>
              <a:rPr lang="en-US" sz="1300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大廳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0" y="1965960"/>
            <a:ext cx="4736592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0" y="22860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兩件事，分開放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223760" y="278892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網頁是一個檔案，照片是另外幾個檔案。</a:t>
            </a: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它們必須放在正確的相對位置，網頁才找得到照片。</a:t>
            </a: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endParaRPr lang="en-US" sz="1400" dirty="0"/>
          </a:p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整包資料夾一起複製、一起搬，就不會出問題。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54406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寄給同事的時候，要整個資料夾一起寄 —— 只寄 index.html 過去，圖會全部破掉。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網頁裡是這樣寫的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</a:t>
            </a:r>
            <a:r>
              <a:rPr lang="en-US" sz="32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這一行就夠了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1207008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65960"/>
            <a:ext cx="100885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A5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&lt;img src=</a:t>
            </a:r>
            <a:r>
              <a:rPr lang="en-US" sz="2600" b="1" dirty="0">
                <a:solidFill>
                  <a:srgbClr val="D0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"images/hero.jpg"</a:t>
            </a:r>
            <a:r>
              <a:rPr lang="en-US" sz="2600" dirty="0">
                <a:solidFill>
                  <a:srgbClr val="A5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/&gt;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34747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688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474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「這張圖在哪裡」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051560" y="4133088"/>
            <a:ext cx="100885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3159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images/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431596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同一層有個叫 images 的資料夾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" y="4974336"/>
            <a:ext cx="100885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157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A6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hero.jpg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515721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資料夾裡有個叫 hero.jpg 的檔案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051560" y="5815584"/>
            <a:ext cx="100885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那張圖是湖景還是你昨天在工地拍的，網頁不在意 —— 名字對就顯示。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9D83A3-5EA0-9506-0D21-EC19FD806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AEE7FBE-9A6F-4A62-8380-B05A5DE2E85E}"/>
              </a:ext>
            </a:extLst>
          </p:cNvPr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91FCA43-F32F-004C-981A-CEB4482FAC64}"/>
              </a:ext>
            </a:extLst>
          </p:cNvPr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換你說說看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73F3BD9-D74D-A6B4-D30E-E04B56B6D6B0}"/>
              </a:ext>
            </a:extLst>
          </p:cNvPr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778891D-B390-C5C4-8E81-06E53E7D11F2}"/>
              </a:ext>
            </a:extLst>
          </p:cNvPr>
          <p:cNvSpPr/>
          <p:nvPr/>
        </p:nvSpPr>
        <p:spPr>
          <a:xfrm>
            <a:off x="594360" y="1920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3320751-A27E-D020-0E24-E9C9DD72F98A}"/>
              </a:ext>
            </a:extLst>
          </p:cNvPr>
          <p:cNvSpPr/>
          <p:nvPr/>
        </p:nvSpPr>
        <p:spPr>
          <a:xfrm>
            <a:off x="1051560" y="2148840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把這段填完，直接貼給 AI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244FAC-2006-6CB8-2773-68DA5D2F2066}"/>
              </a:ext>
            </a:extLst>
          </p:cNvPr>
          <p:cNvSpPr/>
          <p:nvPr/>
        </p:nvSpPr>
        <p:spPr>
          <a:xfrm>
            <a:off x="1051560" y="2606040"/>
            <a:ext cx="10088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000"/>
              </a:lnSpc>
              <a:buNone/>
            </a:pP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幫我把網頁加上換圖片功能</a:t>
            </a:r>
            <a:endParaRPr lang="en-US" sz="1900" dirty="0">
              <a:solidFill>
                <a:srgbClr val="1B1C1A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>
              <a:lnSpc>
                <a:spcPts val="4000"/>
              </a:lnSpc>
            </a:pP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讓我可以在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zh-TW" alt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換上</a:t>
            </a:r>
            <a:r>
              <a:rPr lang="zh-TW" alt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19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＿＿＿＿</a:t>
            </a: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</a:t>
            </a:r>
            <a:endParaRPr lang="en-US" sz="1900" dirty="0"/>
          </a:p>
          <a:p>
            <a:pPr>
              <a:lnSpc>
                <a:spcPts val="4000"/>
              </a:lnSpc>
            </a:pP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圖片會放在</a:t>
            </a:r>
            <a:r>
              <a:rPr lang="en-US" altLang="zh-TW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</a:t>
            </a:r>
            <a:r>
              <a:rPr lang="zh-TW" altLang="en-US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網頁資料夾</a:t>
            </a:r>
            <a:r>
              <a:rPr lang="en-US" altLang="zh-TW" sz="1900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/images</a:t>
            </a:r>
            <a:endParaRPr lang="en-US" sz="1900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1C1AC0D-283B-7DDC-FE12-9ECF6589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7826"/>
          <a:stretch>
            <a:fillRect/>
          </a:stretch>
        </p:blipFill>
        <p:spPr>
          <a:xfrm>
            <a:off x="6045047" y="2640330"/>
            <a:ext cx="2394103" cy="1214478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F716035-9110-B03B-2671-B123BD8730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46"/>
          <a:stretch>
            <a:fillRect/>
          </a:stretch>
        </p:blipFill>
        <p:spPr>
          <a:xfrm>
            <a:off x="7556244" y="4260850"/>
            <a:ext cx="3658111" cy="2362507"/>
          </a:xfrm>
          <a:prstGeom prst="rect">
            <a:avLst/>
          </a:prstGeom>
        </p:spPr>
      </p:pic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255E5B8B-C8F2-C1E3-08D0-646242973CEF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7626350" y="2921000"/>
            <a:ext cx="1758950" cy="133985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46507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操作步驟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換成自己的照片，兩種做法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改檔名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7840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把你的照片改名成 hero.jpg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複製進 images 資料夾蓋掉原本那張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回瀏覽器按重新整理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7840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最簡單，完全不用碰程式碼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01968" y="2542032"/>
            <a:ext cx="4626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改網頁裡的檔名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01968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95160" y="31181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照片放進 images，不用改名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01968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95160" y="3666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把網頁裡的 hero.jpg 改成你的檔名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01968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存檔，重新整理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01968" y="4846320"/>
            <a:ext cx="4626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照片多的時候比較好管理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56235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8408" y="5623560"/>
            <a:ext cx="102348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不會改？把需求講給 AI 聽就好：「照片放進 images 了，檔名是 工地實景.jpg，幫我把首圖換成這張」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排除問題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圖片破掉？先查這三件事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00200" y="21122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檔名有沒有完全一樣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532888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Hero.jpg 和 hero.jpg 可能被當成兩個不同檔案，大小寫要對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264408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00200" y="341071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副檔名對不對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00200" y="3831336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手機照片常是 .jpeg 或 .HEIC，不是 .jpg —— 要嘛改網頁，要嘛轉存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4562856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7" name="Text 15"/>
          <p:cNvSpPr/>
          <p:nvPr/>
        </p:nvSpPr>
        <p:spPr>
          <a:xfrm>
            <a:off x="978408" y="4928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00200" y="4709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真的放進 images 了嗎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129784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放在資料夾外面、或多包了一層，網頁都會找不到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電腦是照字面找檔案的 —— 差一個字母就是找不到。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8FB3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8FB3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Excel 進度表變成看得懂的圖表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從「做內容」換到「處理資料」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3.jpg"/>
          <p:cNvPicPr>
            <a:picLocks noChangeAspect="1"/>
          </p:cNvPicPr>
          <p:nvPr/>
        </p:nvPicPr>
        <p:blipFill>
          <a:blip r:embed="rId3"/>
          <a:srcRect l="16388" r="19667"/>
          <a:stretch>
            <a:fillRect/>
          </a:stretch>
        </p:blipFill>
        <p:spPr>
          <a:xfrm>
            <a:off x="5854700" y="0"/>
            <a:ext cx="4297680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59436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一張表格，</a:t>
            </a:r>
            <a:endParaRPr lang="en-US" sz="28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2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變成一眼看懂的畫面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94360" y="3520440"/>
            <a:ext cx="4297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同樣七個案場的數字。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Excel 裡要一格一格看，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在這裡三秒就知道哪兩個落後。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這就是儀表板存在的理由。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換一種任務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這一段換了一種任務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前兩階段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做內容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840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你決定要放什麼字、什麼圖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7840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幫你排版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好不好看是主觀的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3556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這一階段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處理資料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01968" y="324612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資料是既有的，不能亂改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01968" y="379476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幫你決定怎麼呈現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對不對是客觀的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5349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534924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好消息：資料本來就在你手上。每週在填的進度表，就是原料</a:t>
            </a: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關於資料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看得懂的表格長什麼樣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 AI 會做不好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標題列中間有空白行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合併儲存格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一格裡塞好幾個資訊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數字後面帶單位（68%、180戶）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同一欄有中文也有數字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3556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212848"/>
            <a:ext cx="4626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這種一次就成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01968" y="269748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第一列就是欄位名稱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01968" y="320954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一格一個資訊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372160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數字就是純數字，不帶單位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423367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沒有合併儲存格、沒有空行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01968" y="4745736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每一列代表一個案場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58064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整理資料花的十分鐘，比事後修圖表的一小時划算。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欄位對應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六個欄位，變成畫面上的什麼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9659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案名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77640" y="19659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26280" y="196596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表格第一欄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2606040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7523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977640" y="275234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75234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表格第二欄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3392424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53872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完成率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977640" y="353872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26280" y="353872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進度條的長度 · 顏色深淺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4178808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325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已售戶數 / 總戶數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977640" y="432511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26280" y="43251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上方的銷售率大數字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94360" y="4965192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511149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977640" y="511149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6280" y="511149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右邊的標籤（正常 / 落後 / 即將完工）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5751576"/>
            <a:ext cx="11002975" cy="0"/>
          </a:xfrm>
          <a:prstGeom prst="line">
            <a:avLst/>
          </a:prstGeom>
          <a:noFill/>
          <a:ln w="9525">
            <a:solidFill>
              <a:srgbClr val="DDD9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你不用決定「怎麼畫」，只要決定「哪些欄位重要」。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把你部門的表格丟進去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挑一張表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51960" y="19659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你每週或每月都要看的那張，不用太大，十列以內就夠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整理乾淨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51960" y="297180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照前一頁的原則：一格一個資訊、數字不帶單位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描述你要看什麼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251960" y="397764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「幫我做成儀表板，最上面要看到平均進度和落後幾個」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98348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看結果，再修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51960" y="498348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顏色、排序、要強調哪一欄，都可以再對話調整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沒有現成資料的人，用主辦提供的建案範例檔就好。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這一版的限制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但這一版有個麻煩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數字是寫死在網頁裡的。資料一變，就要整個重做一次。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3703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3703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把本週數字給 AI，生出一份網頁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4416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441655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數字更新了 —— 再給一次，再生一份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512978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下下週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31720" y="512978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再一次⋯⋯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59436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下一段就是要解決這件事。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8FB3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第四段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可互動儀表板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94360" y="3858768"/>
            <a:ext cx="2377440" cy="0"/>
          </a:xfrm>
          <a:prstGeom prst="line">
            <a:avLst/>
          </a:prstGeom>
          <a:noFill/>
          <a:ln w="19050">
            <a:solidFill>
              <a:srgbClr val="8FB3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0690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6DDD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換一份資料，畫面自己重算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5262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順便看清楚：這種做法的邊界在哪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4.jpg"/>
          <p:cNvPicPr>
            <a:picLocks noChangeAspect="1"/>
          </p:cNvPicPr>
          <p:nvPr/>
        </p:nvPicPr>
        <p:blipFill>
          <a:blip r:embed="rId3"/>
          <a:srcRect l="19369" r="16761"/>
          <a:stretch>
            <a:fillRect/>
          </a:stretch>
        </p:blipFill>
        <p:spPr>
          <a:xfrm>
            <a:off x="996950" y="0"/>
            <a:ext cx="4292600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6332220" y="137795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成品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332220" y="178943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多了一顆「上傳 CSV」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332220" y="297815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選一個檔案，所有數字、進度條、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標籤全部重算。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下週要更新報表，換檔案就好，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不用再找 AI 重做一次。</a:t>
            </a:r>
            <a:endParaRPr lang="en-US" sz="16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46283A5-BCE9-6D1F-F252-7FB613EEA800}"/>
              </a:ext>
            </a:extLst>
          </p:cNvPr>
          <p:cNvSpPr/>
          <p:nvPr/>
        </p:nvSpPr>
        <p:spPr>
          <a:xfrm>
            <a:off x="1250950" y="4425950"/>
            <a:ext cx="2622550" cy="89535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同一份儀表板，差在哪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數字寫死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7840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重做一份網頁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適合一次性的簡報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檔案會愈積愈多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19050">
            <a:solidFill>
              <a:srgbClr val="3556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01968" y="2212848"/>
            <a:ext cx="4626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01968" y="2542032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可以換資料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601968" y="3200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更新資料 = 換一個檔案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01968" y="3730752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適合每週固定要出的報表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426110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網頁只要一份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525780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5257800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多學的那一件事：讓網頁自己去讀檔案，而不是把答案先寫進去。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一個要記住的邊界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011680"/>
            <a:ext cx="11002975" cy="1371600"/>
          </a:xfrm>
          <a:prstGeom prst="rect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011680"/>
            <a:ext cx="11002975" cy="0"/>
          </a:xfrm>
          <a:prstGeom prst="line">
            <a:avLst/>
          </a:prstGeom>
          <a:noFill/>
          <a:ln w="9525">
            <a:solidFill>
              <a:srgbClr val="1B1C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11680"/>
            <a:ext cx="100885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這是「快照」，不是「即時系統」。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94360" y="365760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做得到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840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上傳檔案，畫面立刻重算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完全不需要伺服器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7840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資料不會外流，只在你電腦裡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65760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388620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01968" y="4343400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關掉頁面，上傳的資料就沒了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01968" y="4855464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別人打開看不到你的資料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01968" y="5367528"/>
            <a:ext cx="4626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資料源頭改了，不會自動同步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再往下一步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什麼時候才真的需要工程師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916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以下三種需求，超出今天教的範圍 —— 但你已經知道怎麼把需求講清楚了。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228600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651760"/>
            <a:ext cx="292608" cy="29260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3957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多人同時看同一份資料</a:t>
            </a: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81635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業務改了數字，主管那邊要立刻看到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3493008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3858768"/>
            <a:ext cx="292608" cy="29260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360273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資料要長期累積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40233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要能查半年前的進度，做趨勢比較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700016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5065776"/>
            <a:ext cx="292608" cy="29260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48097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自動從別的系統抓資料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23036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不想每次手動匯出 Excel 再上傳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知道邊界在哪，也是一種專業 —— 你會知道什麼時候該找人幫忙。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CSV</a:t>
            </a:r>
            <a:r>
              <a:rPr lang="zh-TW" alt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小提醒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11002975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965960"/>
            <a:ext cx="10088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另存新檔時，一定要選「CSV UTF-8（逗號分隔）」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340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選錯會怎樣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7840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Windows 版 Excel 預設存的是 Big5 編碼，網頁讀進去中文會整片變亂碼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52044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3749040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F6B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怎麼確認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01968" y="4206240"/>
            <a:ext cx="4626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00" dirty="0">
                <a:solidFill>
                  <a:srgbClr val="55574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另存新檔的下拉選單裡，找有寫「UTF-8」那一個，不是最上面那個「CSV」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</a:t>
            </a:r>
            <a:r>
              <a:rPr lang="zh-TW" alt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</a:t>
            </a:r>
            <a:r>
              <a:rPr lang="en-US" sz="1200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換一份資料，看畫面自己算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先用範例檔跑一次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71500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確認上傳流程會動，知道畫面會怎麼變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換成自己的資料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71500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欄位名稱對上，存成 CSV UTF-8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故意改幾個數字再上傳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71500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KPI 跟著跳 —— 這就是「互動」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98348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想想這能用在你哪份報表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715000" y="49834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每週要做的那份，是不是可以省下來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第四步才是重點 —— </a:t>
            </a:r>
            <a:r>
              <a:rPr lang="en-US" sz="1500" b="1" dirty="0" err="1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做出來只是開始，用得上才</a:t>
            </a:r>
            <a:r>
              <a:rPr lang="zh-TW" alt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是真正的</a:t>
            </a:r>
            <a:r>
              <a:rPr lang="en-US" sz="1500" b="1" dirty="0" err="1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</a:t>
            </a: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你今天學會的四件事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2024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2024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92024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把需求講清楚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623560" y="192024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四個要素：做什麼、關於誰、要有什麼、什麼調性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97180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91640" y="297180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檔案怎麼跟網頁連結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623560" y="297180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網頁只記住圖片放在哪，換檔案就換圖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402336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402336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91640" y="402336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資料怎麼變成畫面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623560" y="402336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先整理乾淨，再決定哪一欄要被強調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5074920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5074920"/>
            <a:ext cx="548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556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91640" y="5074920"/>
            <a:ext cx="3840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靜態與互動的差別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623560" y="5074920"/>
            <a:ext cx="5852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以及什麼時候該找工程師幫忙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帶回去用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1002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回去可以先做哪一件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27632"/>
            <a:ext cx="11002975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2258568"/>
            <a:ext cx="274320" cy="274320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7" name="Text 5"/>
          <p:cNvSpPr/>
          <p:nvPr/>
        </p:nvSpPr>
        <p:spPr>
          <a:xfrm>
            <a:off x="150876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工地週報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0876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把每週的進度表做成儀表板，開會直接投影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01968" y="2258568"/>
            <a:ext cx="274320" cy="27432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0" y="21671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建案介紹頁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32320" y="267919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新案子的簡介，不用等廣告公司排版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70332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" y="3995928"/>
            <a:ext cx="274320" cy="274320"/>
          </a:xfrm>
          <a:prstGeom prst="rect">
            <a:avLst/>
          </a:prstGeom>
          <a:solidFill>
            <a:srgbClr val="8A6524"/>
          </a:solidFill>
          <a:ln/>
        </p:spPr>
      </p:sp>
      <p:sp>
        <p:nvSpPr>
          <p:cNvPr id="15" name="Text 13"/>
          <p:cNvSpPr/>
          <p:nvPr/>
        </p:nvSpPr>
        <p:spPr>
          <a:xfrm>
            <a:off x="150876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內部活動報名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50876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尾牙、教育訓練的說明頁，自己一小時做完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394960" cy="0"/>
          </a:xfrm>
          <a:prstGeom prst="line">
            <a:avLst/>
          </a:prstGeom>
          <a:noFill/>
          <a:ln w="9525">
            <a:solidFill>
              <a:srgbClr val="C3BEB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01968" y="3995928"/>
            <a:ext cx="274320" cy="274320"/>
          </a:xfrm>
          <a:prstGeom prst="rect">
            <a:avLst/>
          </a:prstGeom>
          <a:solidFill>
            <a:srgbClr val="35566B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39044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C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銷售日報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132320" y="441655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把每日成交數字做成一頁，主管自己看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57607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挑最小、最常做、最煩的那一件開始</a:t>
            </a:r>
            <a:r>
              <a:rPr lang="en-US" sz="1600" b="1" dirty="0">
                <a:solidFill>
                  <a:srgbClr val="8A65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。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C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031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D0A75E"/>
                </a:solidFill>
                <a:latin typeface="Microsoft JhengHei" pitchFamily="34" charset="0"/>
                <a:ea typeface="Microsoft JhengHei" pitchFamily="34" charset="-122"/>
              </a:rPr>
              <a:t>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2651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3600" b="1" dirty="0" err="1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缺的從來不是技術</a:t>
            </a: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endParaRPr lang="en-US" sz="36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600" b="1" dirty="0" err="1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是有人告訴你「You</a:t>
            </a:r>
            <a:r>
              <a:rPr lang="en-US" sz="3600" b="1" dirty="0">
                <a:solidFill>
                  <a:srgbClr val="F2F5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Can Do It!」。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4709160"/>
            <a:ext cx="2926080" cy="0"/>
          </a:xfrm>
          <a:prstGeom prst="line">
            <a:avLst/>
          </a:prstGeom>
          <a:noFill/>
          <a:ln w="19050">
            <a:solidFill>
              <a:srgbClr val="8A6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4983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688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課後材料：四個階段的完整範例，都在共用資料夾裡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1431</Words>
  <Application>Microsoft Office PowerPoint</Application>
  <PresentationFormat>寬螢幕</PresentationFormat>
  <Paragraphs>425</Paragraphs>
  <Slides>36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41" baseType="lpstr">
      <vt:lpstr>微軟正黑體</vt:lpstr>
      <vt:lpstr>微軟正黑體</vt:lpstr>
      <vt:lpstr>Arial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三小時，做出自己的網頁</dc:title>
  <dc:subject>PptxGenJS Presentation</dc:subject>
  <dc:creator>vibe coding 工作坊</dc:creator>
  <cp:lastModifiedBy>彥安 吉</cp:lastModifiedBy>
  <cp:revision>13</cp:revision>
  <dcterms:created xsi:type="dcterms:W3CDTF">2026-08-11T01:03:17Z</dcterms:created>
  <dcterms:modified xsi:type="dcterms:W3CDTF">2026-08-17T11:25:29Z</dcterms:modified>
</cp:coreProperties>
</file>