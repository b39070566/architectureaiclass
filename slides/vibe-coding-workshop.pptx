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開場先問一句：今天在座有多少人自己做過網頁？通常是零。這正是重點——三小時後，每個人手上都會有一個能打開給主管看的東西。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強調：四階段是疊加，不是四個獨立主題。每一階段只多學一件事。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這頁是全場最重要的期待管理。非資訊背景學員最怕的就是「看不懂 code」，先把這個焦慮拆掉。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時間僅供參考，動手時間不夠就砍講解，不要砍動手。學員的成就感全部來自自己做出來那一刻。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先給成品，再講怎麼做。學員看到具體目標才有動力聽觀念。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讓學員唸一次那句話。他們會發現這根本不是技術語言，就是日常工作語言。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現場可以真的跑一次左邊的指令，讓學員看到通用結果有多空洞，再跑右邊。對比最有說服力。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請學員拿紙筆，把自己的案子按這四點寫下來。寫完直接貼進 AI，這就是第一次實作。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巡場重點：卡住的人多半是「不知道要做什麼」，不是不會下指令。直接幫他挑一個題目。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第一點最重要。學員常以為不滿意就要整個重來，其實對話可以持續修正——這也是 Stage 02 的鋪陳。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這一頁的情緒點是「擁有感」。放自己拍的工地照片，學員的態度會明顯不一樣。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這句話是整個 Stage 02 的核心。講完先停一下，讓它沉下去再往下走。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最後這句是實務上最常出包的地方，一定要講。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不用教 HTML 語法，只要讓他們認得 src 這個字，以及斜線代表「資料夾裡面」。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最後那句要用力講——它把 Stage 02 扣回課程主軸：不會做就描述需求。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建議現場故意打錯一次檔名，讓學員看到破圖，再修好。體驗過一次比講三遍有用。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可以先投影一份真的 Excel，再切到這頁。落差感很強。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很多學員會覺得「資料」是個很技術的詞。要把它拉回「你每週在填的那張表」。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這頁是 Stage 03 最實用的內容。多數人做不出好圖表，問題出在資料，不在 AI。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帶學員看一次自己的表：哪一欄是要被強調的？那就是 KPI。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務必準備好範例 CSV，一定會有人沒帶資料。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刻意讓學員感受到痛點，Stage 04 的價值才會被看見。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現場一定要示範上傳一次。看到數字整排跳動的瞬間，是全場反應最大的地方。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把兩個網頁並排開兩個分頁對照，比投影片有效。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不要把「做不到」講成缺點。週報、月報本來就是快照，這個做法完全match真實工作情境。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這頁的作用是讓學員不要對這套方法過度期待，也不要低估自己已經能做的事。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務必在學員動手前講。不然會有一半的人卡在亂碼，時間全部耗在這裡。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留最後十分鐘讓幾位學員分享自己做的東西，收尾效果最好。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回顧時強調：這四件事沒有一件需要記語法。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鼓勵當場認領一件，散會前寫在便利貼上。有承諾才有後續。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收尾不要再講技術。留一句能帶回去的話就好。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01168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2A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建商員工 AI 應用工作坊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25146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2F5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三小時，做出自己的網頁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9436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spc="200" kern="0" dirty="0">
                <a:solidFill>
                  <a:srgbClr val="9AA4A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不寫程式，用說的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94360" y="4754880"/>
            <a:ext cx="2926080" cy="0"/>
          </a:xfrm>
          <a:prstGeom prst="line">
            <a:avLst/>
          </a:prstGeom>
          <a:noFill/>
          <a:ln w="19050">
            <a:solidFill>
              <a:srgbClr val="8A6A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983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全程以「翠湖苑」建案為例，四個階段逐步累積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E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solidFill>
            <a:srgbClr val="E9ECEB"/>
          </a:solidFill>
          <a:ln w="12700">
            <a:solidFill>
              <a:srgbClr val="8A6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9997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今天你會做出這四樣東西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4360" y="1874520"/>
            <a:ext cx="257860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2194560"/>
            <a:ext cx="310896" cy="310896"/>
          </a:xfrm>
          <a:prstGeom prst="rect">
            <a:avLst/>
          </a:prstGeom>
          <a:solidFill>
            <a:srgbClr val="8A6A3E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67004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999232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資訊網站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68680" y="3877056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把建案介紹變成一個網頁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92424" y="1874520"/>
            <a:ext cx="257860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66744" y="2194560"/>
            <a:ext cx="310896" cy="310896"/>
          </a:xfrm>
          <a:prstGeom prst="rect">
            <a:avLst/>
          </a:prstGeom>
          <a:solidFill>
            <a:srgbClr val="8A6A3E"/>
          </a:solidFill>
          <a:ln/>
        </p:spPr>
      </p:sp>
      <p:sp>
        <p:nvSpPr>
          <p:cNvPr id="13" name="Text 11"/>
          <p:cNvSpPr/>
          <p:nvPr/>
        </p:nvSpPr>
        <p:spPr>
          <a:xfrm>
            <a:off x="3666744" y="267004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66744" y="2999232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加上自己的圖片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666744" y="3877056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換上你部門拍的照片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90488" y="1874520"/>
            <a:ext cx="257860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64808" y="2194560"/>
            <a:ext cx="310896" cy="310896"/>
          </a:xfrm>
          <a:prstGeom prst="rect">
            <a:avLst/>
          </a:prstGeom>
          <a:solidFill>
            <a:srgbClr val="1C4D78"/>
          </a:solidFill>
          <a:ln/>
        </p:spPr>
      </p:sp>
      <p:sp>
        <p:nvSpPr>
          <p:cNvPr id="18" name="Text 16"/>
          <p:cNvSpPr/>
          <p:nvPr/>
        </p:nvSpPr>
        <p:spPr>
          <a:xfrm>
            <a:off x="6464808" y="267004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4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64808" y="2999232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靜態儀表板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464808" y="3877056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Excel 進度表變成圖表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988552" y="1874520"/>
            <a:ext cx="2578608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262872" y="2194560"/>
            <a:ext cx="310896" cy="310896"/>
          </a:xfrm>
          <a:prstGeom prst="rect">
            <a:avLst/>
          </a:prstGeom>
          <a:solidFill>
            <a:srgbClr val="1C4D78"/>
          </a:solidFill>
          <a:ln/>
        </p:spPr>
      </p:sp>
      <p:sp>
        <p:nvSpPr>
          <p:cNvPr id="23" name="Text 21"/>
          <p:cNvSpPr/>
          <p:nvPr/>
        </p:nvSpPr>
        <p:spPr>
          <a:xfrm>
            <a:off x="9262872" y="2670048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C4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262872" y="2999232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可互動儀表板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9262872" y="3877056"/>
            <a:ext cx="20299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換一份資料，畫面跟著算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94360" y="5230368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四個階段都用同一個建案，只多一個新東西 —— 不用每次重新理解情境。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E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solidFill>
            <a:srgbClr val="E9ECEB"/>
          </a:solidFill>
          <a:ln w="12700">
            <a:solidFill>
              <a:srgbClr val="8A6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EXPECTATIONS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9997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先說清楚：今天不教你寫程式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11002975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65960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今天教的是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520440" y="1965960"/>
            <a:ext cx="771113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怎麼把「你要什麼」講清楚給 AI 聽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4360" y="3044952"/>
            <a:ext cx="11002975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044952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今天不教的是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20440" y="3044952"/>
            <a:ext cx="771113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HTML、CSS、JavaScript 的語法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4123944"/>
            <a:ext cx="11002975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123944"/>
            <a:ext cx="23774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你需要準備的是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4123944"/>
            <a:ext cx="7711135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一份自己部門的資料，或一個想做的東西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" y="5394960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6A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會下指令的人，不需要會寫程式，也做得出東西。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E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solidFill>
            <a:srgbClr val="E9ECEB"/>
          </a:solidFill>
          <a:ln w="12700">
            <a:solidFill>
              <a:srgbClr val="8A6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SCHEDULE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9997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三小時怎麼跑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94360" y="1920240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00:00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737360" y="2194560"/>
            <a:ext cx="182880" cy="182880"/>
          </a:xfrm>
          <a:prstGeom prst="rect">
            <a:avLst/>
          </a:prstGeom>
          <a:solidFill>
            <a:srgbClr val="8A6A3E"/>
          </a:solidFill>
          <a:ln/>
        </p:spPr>
      </p:sp>
      <p:sp>
        <p:nvSpPr>
          <p:cNvPr id="8" name="Text 6"/>
          <p:cNvSpPr/>
          <p:nvPr/>
        </p:nvSpPr>
        <p:spPr>
          <a:xfrm>
            <a:off x="2194560" y="192024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資訊網站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120640" y="192024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學會下指令，做出第一個網頁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104120" y="1920240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 min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2724912"/>
            <a:ext cx="11002975" cy="0"/>
          </a:xfrm>
          <a:prstGeom prst="line">
            <a:avLst/>
          </a:prstGeom>
          <a:noFill/>
          <a:ln w="9525">
            <a:solidFill>
              <a:srgbClr val="C3C9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16352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00:45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737360" y="3090672"/>
            <a:ext cx="182880" cy="182880"/>
          </a:xfrm>
          <a:prstGeom prst="rect">
            <a:avLst/>
          </a:prstGeom>
          <a:solidFill>
            <a:srgbClr val="8A6A3E"/>
          </a:solidFill>
          <a:ln/>
        </p:spPr>
      </p:sp>
      <p:sp>
        <p:nvSpPr>
          <p:cNvPr id="14" name="Text 12"/>
          <p:cNvSpPr/>
          <p:nvPr/>
        </p:nvSpPr>
        <p:spPr>
          <a:xfrm>
            <a:off x="2194560" y="281635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加上圖片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120640" y="281635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把自己的照片放上去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104120" y="2816352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35 min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3621024"/>
            <a:ext cx="11002975" cy="0"/>
          </a:xfrm>
          <a:prstGeom prst="line">
            <a:avLst/>
          </a:prstGeom>
          <a:noFill/>
          <a:ln w="9525">
            <a:solidFill>
              <a:srgbClr val="C3C9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712464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4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01:20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1737360" y="3986784"/>
            <a:ext cx="182880" cy="182880"/>
          </a:xfrm>
          <a:prstGeom prst="rect">
            <a:avLst/>
          </a:prstGeom>
          <a:solidFill>
            <a:srgbClr val="1C4D78"/>
          </a:solidFill>
          <a:ln/>
        </p:spPr>
      </p:sp>
      <p:sp>
        <p:nvSpPr>
          <p:cNvPr id="20" name="Text 18"/>
          <p:cNvSpPr/>
          <p:nvPr/>
        </p:nvSpPr>
        <p:spPr>
          <a:xfrm>
            <a:off x="2194560" y="3712464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靜態儀表板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120640" y="3712464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Excel 變成圖表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104120" y="3712464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min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" y="4517136"/>
            <a:ext cx="11002975" cy="0"/>
          </a:xfrm>
          <a:prstGeom prst="line">
            <a:avLst/>
          </a:prstGeom>
          <a:noFill/>
          <a:ln w="9525">
            <a:solidFill>
              <a:srgbClr val="C3C9C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608576"/>
            <a:ext cx="960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4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02:10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1737360" y="4882896"/>
            <a:ext cx="182880" cy="182880"/>
          </a:xfrm>
          <a:prstGeom prst="rect">
            <a:avLst/>
          </a:prstGeom>
          <a:solidFill>
            <a:srgbClr val="1C4D78"/>
          </a:solidFill>
          <a:ln/>
        </p:spPr>
      </p:sp>
      <p:sp>
        <p:nvSpPr>
          <p:cNvPr id="26" name="Text 24"/>
          <p:cNvSpPr/>
          <p:nvPr/>
        </p:nvSpPr>
        <p:spPr>
          <a:xfrm>
            <a:off x="2194560" y="460857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可互動儀表板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5120640" y="4608576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換資料，畫面跟著算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104120" y="4608576"/>
            <a:ext cx="1463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min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4360" y="566928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每一段都是：先看範例 → 講觀念 → 自己動手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2A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265176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F5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資訊網站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94360" y="3858768"/>
            <a:ext cx="2377440" cy="0"/>
          </a:xfrm>
          <a:prstGeom prst="line">
            <a:avLst/>
          </a:prstGeom>
          <a:noFill/>
          <a:ln w="19050">
            <a:solidFill>
              <a:srgbClr val="C2A2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0690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DD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把一段描述變成一個網頁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45262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這一段的重點是「怎麼說」，不是「怎麼寫」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E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0855" y="0"/>
            <a:ext cx="672084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13716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成品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94360" y="1783080"/>
            <a:ext cx="4297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這是三十分鐘做出來的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94360" y="3200400"/>
            <a:ext cx="4297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一整份建案介紹網頁：建案名、理念、特色、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格局表、生活機能、聯絡方式。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從頭到尾沒有寫一行程式碼。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9E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solidFill>
            <a:srgbClr val="E9ECEB"/>
          </a:solidFill>
          <a:ln w="12700">
            <a:solidFill>
              <a:srgbClr val="8A6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B-01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核心觀念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9997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你不是在寫程式，是在描述需求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11002975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965960"/>
            <a:ext cx="100885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00"/>
              </a:lnSpc>
              <a:buNone/>
            </a:pPr>
            <a:r>
              <a:rPr lang="en-US" sz="1900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「幫我做一個建案介紹網頁，建案叫翠湖苑，在台中七期，主打面湖景觀，要有格局表和生活機能。」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94360" y="3611880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A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這句話你本來就會說 —— 你每天跟同事、跟廣告商講的就是這個。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4251960"/>
            <a:ext cx="5394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44805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你已經有的能力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48463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清楚描述一個建案該有什麼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17920" y="4251960"/>
            <a:ext cx="53949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0" y="44805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6B7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今天要練的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83680" y="48463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把這個描述講得讓 AI 接得住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E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solidFill>
            <a:srgbClr val="E9ECEB"/>
          </a:solidFill>
          <a:ln w="12700">
            <a:solidFill>
              <a:srgbClr val="8A6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B-02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9997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同樣一件事，兩種說法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53949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21284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35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太模糊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6517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「幫我做一個建案網站」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338328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只能自己猜：什麼建案、賣點在哪、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要放哪些內容、給誰看。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結果就是一個很通用、跟你的案子</a:t>
            </a:r>
            <a:endParaRPr lang="en-US" sz="14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沒什麼關係的網頁。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965960"/>
            <a:ext cx="5394960" cy="3657600"/>
          </a:xfrm>
          <a:prstGeom prst="rect">
            <a:avLst/>
          </a:prstGeom>
          <a:solidFill>
            <a:srgbClr val="FFFFFF"/>
          </a:solidFill>
          <a:ln w="19050">
            <a:solidFill>
              <a:srgbClr val="8A6A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212848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7D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講清楚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83680" y="2651760"/>
            <a:ext cx="4663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「翠湖苑，台中七期，低層電梯宅，主打面湖景觀。要有建案理念、格局表、生活機能、聯絡方式。調性沉靜有質感，不要像廣告傳單。」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83680" y="49377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6A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多花三十秒描述，省下反覆重做的時間。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9E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solidFill>
            <a:srgbClr val="E9ECEB"/>
          </a:solidFill>
          <a:ln w="12700">
            <a:solidFill>
              <a:srgbClr val="8A6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B-03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CHECKLIST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9997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一個好指令，講滿這四件事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475488" cy="475488"/>
          </a:xfrm>
          <a:prstGeom prst="rect">
            <a:avLst/>
          </a:prstGeom>
          <a:solidFill>
            <a:srgbClr val="8A6A3E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196596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做什麼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794760" y="1965960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一頁建案介紹網站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2926080"/>
            <a:ext cx="475488" cy="475488"/>
          </a:xfrm>
          <a:prstGeom prst="rect">
            <a:avLst/>
          </a:prstGeom>
          <a:solidFill>
            <a:srgbClr val="8A6A3E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926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92608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關於誰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94760" y="2926080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翠湖苑，台中七期，低層電梯宅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3886200"/>
            <a:ext cx="475488" cy="475488"/>
          </a:xfrm>
          <a:prstGeom prst="rect">
            <a:avLst/>
          </a:prstGeom>
          <a:solidFill>
            <a:srgbClr val="8A6A3E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886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388620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要有什麼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794760" y="3886200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理念、特色、格局表、生活機能、聯絡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4846320"/>
            <a:ext cx="475488" cy="475488"/>
          </a:xfrm>
          <a:prstGeom prst="rect">
            <a:avLst/>
          </a:prstGeom>
          <a:solidFill>
            <a:srgbClr val="8A6A3E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48463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71600" y="4846320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什麼調性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794760" y="4846320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沉靜有質感，不要像廣告傳單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94360" y="5806440"/>
            <a:ext cx="11002975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806440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四件事都講到，AI 第一次給的結果通常就有八成可用。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9E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solidFill>
            <a:srgbClr val="E9ECEB"/>
          </a:solidFill>
          <a:ln w="12700">
            <a:solidFill>
              <a:srgbClr val="8A6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B-04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PRACTICE · 25 min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9997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換你說說看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11002975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148840"/>
            <a:ext cx="100885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把這段填完，直接貼給 AI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51560" y="2606040"/>
            <a:ext cx="1008857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1900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幫我做一個一頁式的</a:t>
            </a:r>
            <a:pPr indent="0" marL="0">
              <a:lnSpc>
                <a:spcPts val="4000"/>
              </a:lnSpc>
              <a:buNone/>
            </a:pPr>
            <a:r>
              <a:rPr lang="en-US" sz="1900" b="1" dirty="0">
                <a:solidFill>
                  <a:srgbClr val="8A6A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「＿＿＿＿」</a:t>
            </a:r>
            <a:pPr indent="0" marL="0">
              <a:lnSpc>
                <a:spcPts val="4000"/>
              </a:lnSpc>
              <a:buNone/>
            </a:pPr>
            <a:r>
              <a:rPr lang="en-US" sz="1900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介紹網頁。</a:t>
            </a:r>
            <a:endParaRPr lang="en-US" sz="19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1900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它在</a:t>
            </a:r>
            <a:pPr indent="0" marL="0">
              <a:lnSpc>
                <a:spcPts val="4000"/>
              </a:lnSpc>
              <a:buNone/>
            </a:pPr>
            <a:r>
              <a:rPr lang="en-US" sz="1900" b="1" dirty="0">
                <a:solidFill>
                  <a:srgbClr val="8A6A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＿＿＿＿</a:t>
            </a:r>
            <a:pPr indent="0" marL="0">
              <a:lnSpc>
                <a:spcPts val="4000"/>
              </a:lnSpc>
              <a:buNone/>
            </a:pPr>
            <a:r>
              <a:rPr lang="en-US" sz="1900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，主打的是</a:t>
            </a:r>
            <a:pPr indent="0" marL="0">
              <a:lnSpc>
                <a:spcPts val="4000"/>
              </a:lnSpc>
              <a:buNone/>
            </a:pPr>
            <a:r>
              <a:rPr lang="en-US" sz="1900" b="1" dirty="0">
                <a:solidFill>
                  <a:srgbClr val="8A6A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＿＿＿＿</a:t>
            </a:r>
            <a:pPr indent="0" marL="0">
              <a:lnSpc>
                <a:spcPts val="4000"/>
              </a:lnSpc>
              <a:buNone/>
            </a:pPr>
            <a:r>
              <a:rPr lang="en-US" sz="1900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9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1900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網頁要有：</a:t>
            </a:r>
            <a:pPr indent="0" marL="0">
              <a:lnSpc>
                <a:spcPts val="4000"/>
              </a:lnSpc>
              <a:buNone/>
            </a:pPr>
            <a:r>
              <a:rPr lang="en-US" sz="1900" b="1" dirty="0">
                <a:solidFill>
                  <a:srgbClr val="8A6A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＿＿＿＿、＿＿＿＿、＿＿＿＿</a:t>
            </a:r>
            <a:pPr indent="0" marL="0">
              <a:lnSpc>
                <a:spcPts val="4000"/>
              </a:lnSpc>
              <a:buNone/>
            </a:pPr>
            <a:r>
              <a:rPr lang="en-US" sz="1900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9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1900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調性希望是</a:t>
            </a:r>
            <a:pPr indent="0" marL="0">
              <a:lnSpc>
                <a:spcPts val="4000"/>
              </a:lnSpc>
              <a:buNone/>
            </a:pPr>
            <a:r>
              <a:rPr lang="en-US" sz="1900" b="1" dirty="0">
                <a:solidFill>
                  <a:srgbClr val="8A6A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＿＿＿＿</a:t>
            </a:r>
            <a:pPr indent="0" marL="0">
              <a:lnSpc>
                <a:spcPts val="4000"/>
              </a:lnSpc>
              <a:buNone/>
            </a:pPr>
            <a:r>
              <a:rPr lang="en-US" sz="1900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94360" y="498348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不一定要是建案 —— 部門介紹、活動報名、產品說明都可以。挑一個你這週真的用得到的。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94360" y="553212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A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做出來之後，先別急著調細節。整體對了再修。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9E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solidFill>
            <a:srgbClr val="E9ECEB"/>
          </a:solidFill>
          <a:ln w="12700">
            <a:solidFill>
              <a:srgbClr val="8A6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B-05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TROUBLESHOOT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9997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給的不是你要的？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11002975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2377440"/>
            <a:ext cx="256032" cy="256032"/>
          </a:xfrm>
          <a:prstGeom prst="rect">
            <a:avLst/>
          </a:prstGeom>
          <a:solidFill>
            <a:srgbClr val="8A6A3E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211226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不要重寫，用改的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08760" y="2532888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「其他都好，只要把格局表改成四欄」——AI 會只動那一塊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3264408"/>
            <a:ext cx="11002975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78408" y="3675888"/>
            <a:ext cx="256032" cy="256032"/>
          </a:xfrm>
          <a:prstGeom prst="rect">
            <a:avLst/>
          </a:prstGeom>
          <a:solidFill>
            <a:srgbClr val="8A6A3E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4107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說「不要什麼」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08760" y="3831336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「顏色太花，改成低彩度」比「弄好看一點」有用得多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4562856"/>
            <a:ext cx="11002975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8408" y="4974336"/>
            <a:ext cx="256032" cy="256032"/>
          </a:xfrm>
          <a:prstGeom prst="rect">
            <a:avLst/>
          </a:prstGeom>
          <a:solidFill>
            <a:srgbClr val="8A6A3E"/>
          </a:solidFill>
          <a:ln/>
        </p:spPr>
      </p:sp>
      <p:sp>
        <p:nvSpPr>
          <p:cNvPr id="16" name="Text 14"/>
          <p:cNvSpPr/>
          <p:nvPr/>
        </p:nvSpPr>
        <p:spPr>
          <a:xfrm>
            <a:off x="1508760" y="47091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給它參考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5129784"/>
            <a:ext cx="9418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「像 ○○ 那種質感」——有具體對象，AI 抓得比較準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2A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265176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F5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加上自己的圖片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94360" y="3858768"/>
            <a:ext cx="2377440" cy="0"/>
          </a:xfrm>
          <a:prstGeom prst="line">
            <a:avLst/>
          </a:prstGeom>
          <a:noFill/>
          <a:ln w="19050">
            <a:solidFill>
              <a:srgbClr val="C2A2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0690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DD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把你部門拍的照片放上去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45262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重點：網頁跟圖片檔，是怎麼連在一起的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9E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2084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23760" y="13716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成品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223760" y="178308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28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同一個網站，</a:t>
            </a:r>
            <a:endParaRPr lang="en-US" sz="2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8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換上自己的照片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223760" y="3337560"/>
            <a:ext cx="4480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文字、版面完全沒動。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只是把資料夾裡的圖片檔換掉。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從這一刻起，它不再是範例，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而是你的東西。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9E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solidFill>
            <a:srgbClr val="E9ECEB"/>
          </a:solidFill>
          <a:ln w="12700">
            <a:solidFill>
              <a:srgbClr val="8A6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C-01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核心觀念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9997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網頁不會把圖片存在裡面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4360" y="2011680"/>
            <a:ext cx="11002975" cy="1417320"/>
          </a:xfrm>
          <a:prstGeom prst="rect">
            <a:avLst/>
          </a:prstGeom>
          <a:solidFill>
            <a:srgbClr val="16201D"/>
          </a:solidFill>
          <a:ln w="12700">
            <a:solidFill>
              <a:srgbClr val="1620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011680"/>
            <a:ext cx="10088575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2F5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它只記住一件事：這張圖放在哪、叫什麼名字。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594360" y="370332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6A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所以換照片，其實不用改網頁 —— 把檔案換掉就好。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94360" y="4434840"/>
            <a:ext cx="5394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8408" y="464515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網頁檔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78408" y="502920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78408" y="54132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決定版面長什麼樣、文字寫什麼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4434840"/>
            <a:ext cx="53949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1968" y="464515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圖片資料夾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01968" y="5029200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images/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01968" y="541324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放照片，網頁到這裡來拿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9E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solidFill>
            <a:srgbClr val="E9ECEB"/>
          </a:solidFill>
          <a:ln w="12700">
            <a:solidFill>
              <a:srgbClr val="8A6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C-02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9997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資料夾長什麼樣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603504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240280"/>
            <a:ext cx="5486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1620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翠湖苑網站/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6B7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 index.html          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網頁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6B7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 images/             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圖片資料夾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6B7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├─ hero.jpg       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首圖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6B7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├─ interior-1.jpg 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客廳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6B7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├─ interior-2.jpg 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主臥</a:t>
            </a:r>
            <a:endParaRPr lang="en-US" sz="13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6B7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└─ interior-3.jpg </a:t>
            </a:r>
            <a:pPr indent="0" marL="0">
              <a:lnSpc>
                <a:spcPts val="2400"/>
              </a:lnSpc>
              <a:buNone/>
            </a:pPr>
            <a:r>
              <a:rPr lang="en-US" sz="1300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大廳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0" y="1965960"/>
            <a:ext cx="4736592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0" y="22860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兩件事，分開放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223760" y="2788920"/>
            <a:ext cx="40233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網頁是一個檔案，照片是另外幾個檔案。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它們必須放在正確的相對位置，網頁才找得到照片。</a:t>
            </a: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endParaRPr lang="en-US" sz="14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整包資料夾一起複製、一起搬，就不會出問題。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544068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72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寄給同事的時候，要整個資料夾一起寄 —— 只寄 index.html 過去，圖會全部破掉。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9E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solidFill>
            <a:srgbClr val="E9ECEB"/>
          </a:solidFill>
          <a:ln w="12700">
            <a:solidFill>
              <a:srgbClr val="8A6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C-03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網頁裡是這樣寫的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9997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看懂這一行就夠了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11002975" cy="1207008"/>
          </a:xfrm>
          <a:prstGeom prst="rect">
            <a:avLst/>
          </a:prstGeom>
          <a:solidFill>
            <a:srgbClr val="16201D"/>
          </a:solidFill>
          <a:ln w="12700">
            <a:solidFill>
              <a:srgbClr val="1620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965960"/>
            <a:ext cx="10088575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AA4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</a:t>
            </a:r>
            <a:pPr indent="0" marL="0">
              <a:buNone/>
            </a:pPr>
            <a:r>
              <a:rPr lang="en-US" sz="2600" b="1" dirty="0">
                <a:solidFill>
                  <a:srgbClr val="C2A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"images/hero.jpg"</a:t>
            </a:r>
            <a:pPr indent="0" marL="0">
              <a:buNone/>
            </a:pPr>
            <a:r>
              <a:rPr lang="en-US" sz="2600" dirty="0">
                <a:solidFill>
                  <a:srgbClr val="9AA4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/&gt;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51560" y="34747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337560" y="347472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「這張圖在哪裡」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051560" y="4133088"/>
            <a:ext cx="10088575" cy="0"/>
          </a:xfrm>
          <a:prstGeom prst="line">
            <a:avLst/>
          </a:prstGeom>
          <a:noFill/>
          <a:ln w="9525">
            <a:solidFill>
              <a:srgbClr val="C3C9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43159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images/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337560" y="4315968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同一層有個叫 images 的資料夾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051560" y="4974336"/>
            <a:ext cx="10088575" cy="0"/>
          </a:xfrm>
          <a:prstGeom prst="line">
            <a:avLst/>
          </a:prstGeom>
          <a:noFill/>
          <a:ln w="9525">
            <a:solidFill>
              <a:srgbClr val="C3C9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515721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hero.jpg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37560" y="5157216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資料夾裡有個叫 hero.jpg 的檔案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1051560" y="5815584"/>
            <a:ext cx="10088575" cy="0"/>
          </a:xfrm>
          <a:prstGeom prst="line">
            <a:avLst/>
          </a:prstGeom>
          <a:noFill/>
          <a:ln w="9525">
            <a:solidFill>
              <a:srgbClr val="C3C9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5943600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A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那張圖是湖景還是你昨天在工地拍的，網頁不在意 —— 名字對就顯示。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9E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solidFill>
            <a:srgbClr val="E9ECEB"/>
          </a:solidFill>
          <a:ln w="12700">
            <a:solidFill>
              <a:srgbClr val="8A6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C-04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HOW-TO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9997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換成自己的照片，兩種做法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53949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212848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做法一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2542032"/>
            <a:ext cx="4626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改檔名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78408" y="3154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311810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把你的照片改名成 hero.jpg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78408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366674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複製進 images 資料夾蓋掉原本那張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78408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A7D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421538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回瀏覽器按重新整理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78408" y="4846320"/>
            <a:ext cx="4626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7D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最簡單，完全不用碰程式碼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1965960"/>
            <a:ext cx="539496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01968" y="2212848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做法二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601968" y="2542032"/>
            <a:ext cx="46268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改網頁裡的檔名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01968" y="3154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95160" y="311810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照片放進 images，不用改名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01968" y="3703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95160" y="366674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把網頁裡的 hero.jpg 改成你的檔名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01968" y="4251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95160" y="421538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存檔，重新整理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01968" y="4846320"/>
            <a:ext cx="4626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6A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照片多的時候比較好管理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94360" y="5623560"/>
            <a:ext cx="1100297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8408" y="5623560"/>
            <a:ext cx="10234879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不會改？把需求講給 AI 聽就好：「照片放進 images 了，檔名是 工地實景.jpg，幫我把首圖換成這張」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9E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solidFill>
            <a:srgbClr val="E9ECEB"/>
          </a:solidFill>
          <a:ln w="12700">
            <a:solidFill>
              <a:srgbClr val="8A6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C-05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9997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圖片破掉？先查這三件事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11002975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2331720"/>
            <a:ext cx="365760" cy="365760"/>
          </a:xfrm>
          <a:prstGeom prst="rect">
            <a:avLst/>
          </a:prstGeom>
          <a:solidFill>
            <a:srgbClr val="A8721C"/>
          </a:solidFill>
          <a:ln/>
        </p:spPr>
      </p:sp>
      <p:sp>
        <p:nvSpPr>
          <p:cNvPr id="8" name="Text 6"/>
          <p:cNvSpPr/>
          <p:nvPr/>
        </p:nvSpPr>
        <p:spPr>
          <a:xfrm>
            <a:off x="978408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600200" y="211226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檔名有沒有完全一樣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00200" y="2532888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Hero.jpg 和 hero.jpg 可能被當成兩個不同檔案，大小寫要對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264408"/>
            <a:ext cx="11002975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8408" y="3630168"/>
            <a:ext cx="365760" cy="365760"/>
          </a:xfrm>
          <a:prstGeom prst="rect">
            <a:avLst/>
          </a:prstGeom>
          <a:solidFill>
            <a:srgbClr val="A8721C"/>
          </a:solidFill>
          <a:ln/>
        </p:spPr>
      </p:sp>
      <p:sp>
        <p:nvSpPr>
          <p:cNvPr id="13" name="Text 11"/>
          <p:cNvSpPr/>
          <p:nvPr/>
        </p:nvSpPr>
        <p:spPr>
          <a:xfrm>
            <a:off x="978408" y="3630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600200" y="341071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副檔名對不對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00200" y="3831336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手機照片常是 .jpeg 或 .HEIC，不是 .jpg —— 要嘛改網頁，要嘛轉存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94360" y="4562856"/>
            <a:ext cx="11002975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78408" y="4928616"/>
            <a:ext cx="365760" cy="365760"/>
          </a:xfrm>
          <a:prstGeom prst="rect">
            <a:avLst/>
          </a:prstGeom>
          <a:solidFill>
            <a:srgbClr val="A8721C"/>
          </a:solidFill>
          <a:ln/>
        </p:spPr>
      </p:sp>
      <p:sp>
        <p:nvSpPr>
          <p:cNvPr id="18" name="Text 16"/>
          <p:cNvSpPr/>
          <p:nvPr/>
        </p:nvSpPr>
        <p:spPr>
          <a:xfrm>
            <a:off x="978408" y="49286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600200" y="4709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真的放進 images 了嗎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00200" y="512978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放在資料夾外面、或多包了一層，網頁都會找不到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4360" y="5943600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電腦是照字面找檔案的 —— 差一個字母就是找不到。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7FB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265176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F5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靜態儀表板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94360" y="3858768"/>
            <a:ext cx="2377440" cy="0"/>
          </a:xfrm>
          <a:prstGeom prst="line">
            <a:avLst/>
          </a:prstGeom>
          <a:noFill/>
          <a:ln w="19050">
            <a:solidFill>
              <a:srgbClr val="7FB3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0690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DD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Excel 進度表變成看得懂的圖表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45262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從「做內容」換到「處理資料」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9E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0855" y="0"/>
            <a:ext cx="672084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4360" y="13716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4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成品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594360" y="1783080"/>
            <a:ext cx="4297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200"/>
              </a:lnSpc>
              <a:buNone/>
            </a:pPr>
            <a:r>
              <a:rPr lang="en-US" sz="28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一張表格，</a:t>
            </a:r>
            <a:endParaRPr lang="en-US" sz="2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8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變成一眼看懂的畫面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594360" y="3520440"/>
            <a:ext cx="4297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同樣七個案場的數字。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 Excel 裡要一格一格看，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在這裡三秒就知道哪兩個落後。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這就是儀表板存在的理由。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9E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solidFill>
            <a:srgbClr val="E9ECEB"/>
          </a:solidFill>
          <a:ln w="12700">
            <a:solidFill>
              <a:srgbClr val="1C4D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4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D-01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4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9997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這一段換了一種任務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53949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212848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前兩階段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2542032"/>
            <a:ext cx="4626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做內容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78408" y="3246120"/>
            <a:ext cx="4626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5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你決定要放什麼字、什麼圖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78408" y="3794760"/>
            <a:ext cx="4626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5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幫你排版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78408" y="4343400"/>
            <a:ext cx="4626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5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好不好看是主觀的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1965960"/>
            <a:ext cx="539496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4D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1968" y="2212848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4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這一階段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01968" y="2542032"/>
            <a:ext cx="4626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處理資料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601968" y="3246120"/>
            <a:ext cx="4626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5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資料是既有的，不能亂改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01968" y="3794760"/>
            <a:ext cx="4626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5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幫你決定怎麼呈現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01968" y="4343400"/>
            <a:ext cx="4626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5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對不對是客觀的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5349240"/>
            <a:ext cx="1100297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" y="5349240"/>
            <a:ext cx="1023487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好消息：資料本來就在你手上。你每週在填的那張進度表，就是原料。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9E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solidFill>
            <a:srgbClr val="E9ECEB"/>
          </a:solidFill>
          <a:ln w="12700">
            <a:solidFill>
              <a:srgbClr val="1C4D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4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D-02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4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9997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看得懂的表格長什麼樣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53949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212848"/>
            <a:ext cx="4626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35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這種 AI 會做不好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78408" y="2697480"/>
            <a:ext cx="4626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4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標題列中間有空白行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78408" y="3209544"/>
            <a:ext cx="4626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4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合併儲存格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78408" y="3721608"/>
            <a:ext cx="4626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4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一格裡塞好幾個資訊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78408" y="4233672"/>
            <a:ext cx="4626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4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數字後面帶單位（68%、180戶）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78408" y="4745736"/>
            <a:ext cx="4626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4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同一欄有中文也有數字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1965960"/>
            <a:ext cx="539496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C4D7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1968" y="2212848"/>
            <a:ext cx="46268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7D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這種一次就成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01968" y="2697480"/>
            <a:ext cx="4626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4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第一列就是欄位名稱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01968" y="3209544"/>
            <a:ext cx="4626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4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一格一個資訊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01968" y="3721608"/>
            <a:ext cx="4626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4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數字就是純數字，不帶單位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01968" y="4233672"/>
            <a:ext cx="4626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4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沒有合併儲存格、沒有空行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01968" y="4745736"/>
            <a:ext cx="4626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4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每一列代表一個案場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580644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4D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整理資料花的十分鐘，比事後修圖表的一小時划算。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9E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solidFill>
            <a:srgbClr val="E9ECEB"/>
          </a:solidFill>
          <a:ln w="12700">
            <a:solidFill>
              <a:srgbClr val="1C4D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4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D-03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4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MAPPING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9997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六個欄位，變成畫面上的什麼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案名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977640" y="1965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26280" y="1965960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表格第一欄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2606040"/>
            <a:ext cx="11002975" cy="0"/>
          </a:xfrm>
          <a:prstGeom prst="line">
            <a:avLst/>
          </a:prstGeom>
          <a:noFill/>
          <a:ln w="9525">
            <a:solidFill>
              <a:srgbClr val="C3C9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75234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階段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977640" y="2752344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6280" y="2752344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表格第二欄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94360" y="3392424"/>
            <a:ext cx="11002975" cy="0"/>
          </a:xfrm>
          <a:prstGeom prst="line">
            <a:avLst/>
          </a:prstGeom>
          <a:noFill/>
          <a:ln w="9525">
            <a:solidFill>
              <a:srgbClr val="C3C9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353872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完成率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977640" y="3538728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4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26280" y="3538728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4D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進度條的長度 · 顏色深淺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4360" y="4178808"/>
            <a:ext cx="11002975" cy="0"/>
          </a:xfrm>
          <a:prstGeom prst="line">
            <a:avLst/>
          </a:prstGeom>
          <a:noFill/>
          <a:ln w="9525">
            <a:solidFill>
              <a:srgbClr val="C3C9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32511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已售戶數 / 總戶數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977640" y="4325112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4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26280" y="432511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4D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上方的銷售率大數字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4360" y="4965192"/>
            <a:ext cx="11002975" cy="0"/>
          </a:xfrm>
          <a:prstGeom prst="line">
            <a:avLst/>
          </a:prstGeom>
          <a:noFill/>
          <a:ln w="9525">
            <a:solidFill>
              <a:srgbClr val="C3C9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511149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977640" y="5111496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4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526280" y="5111496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4D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右邊的標籤（正常 / 落後 / 即將完工）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94360" y="5751576"/>
            <a:ext cx="11002975" cy="0"/>
          </a:xfrm>
          <a:prstGeom prst="line">
            <a:avLst/>
          </a:prstGeom>
          <a:noFill/>
          <a:ln w="9525">
            <a:solidFill>
              <a:srgbClr val="C3C9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5989320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4D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你不用決定「怎麼畫」，只要決定「哪些欄位重要」。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9E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solidFill>
            <a:srgbClr val="E9ECEB"/>
          </a:solidFill>
          <a:ln w="12700">
            <a:solidFill>
              <a:srgbClr val="1C4D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4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D-04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4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PRACTICE · 30 min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9997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把你部門的表格丟進去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475488" cy="475488"/>
          </a:xfrm>
          <a:prstGeom prst="rect">
            <a:avLst/>
          </a:prstGeom>
          <a:solidFill>
            <a:srgbClr val="1C4D7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196596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挑一張表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251960" y="196596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你每週或每月都要看的那張，不用太大，十列以內就夠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2971800"/>
            <a:ext cx="475488" cy="475488"/>
          </a:xfrm>
          <a:prstGeom prst="rect">
            <a:avLst/>
          </a:prstGeom>
          <a:solidFill>
            <a:srgbClr val="1C4D78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971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97180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整理乾淨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251960" y="297180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照前一頁的原則：一格一個資訊、數字不帶單位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3977640"/>
            <a:ext cx="475488" cy="475488"/>
          </a:xfrm>
          <a:prstGeom prst="rect">
            <a:avLst/>
          </a:prstGeom>
          <a:solidFill>
            <a:srgbClr val="1C4D7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977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39776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描述你要看什麼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251960" y="397764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「幫我做成儀表板，最上面要看到平均進度和落後幾個」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" y="4983480"/>
            <a:ext cx="475488" cy="475488"/>
          </a:xfrm>
          <a:prstGeom prst="rect">
            <a:avLst/>
          </a:prstGeom>
          <a:solidFill>
            <a:srgbClr val="1C4D78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4983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71600" y="498348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看結果，再修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251960" y="498348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顏色、排序、要強調哪一欄，都可以再對話調整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" y="5989320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沒有現成資料的人，用主辦提供的建案範例檔就好。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9E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solidFill>
            <a:srgbClr val="E9ECEB"/>
          </a:solidFill>
          <a:ln w="12700">
            <a:solidFill>
              <a:srgbClr val="1C4D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4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D-05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4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9997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但這一版有個麻煩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4360" y="2011680"/>
            <a:ext cx="11002975" cy="1371600"/>
          </a:xfrm>
          <a:prstGeom prst="rect">
            <a:avLst/>
          </a:prstGeom>
          <a:solidFill>
            <a:srgbClr val="16201D"/>
          </a:solidFill>
          <a:ln w="12700">
            <a:solidFill>
              <a:srgbClr val="1620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011680"/>
            <a:ext cx="100885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F5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數字是寫死在網頁裡的。資料一變，就要整個重做一次。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94360" y="3703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72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這週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31720" y="370332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把本週數字給 AI，生出一份網頁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4360" y="441655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72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下週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331720" y="441655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數字更新了 —— 再給一次，再生一份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512978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72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下下週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331720" y="512978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再一次⋯⋯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5943600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4D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下一段就是要解決這件事。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62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7FB3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2651760"/>
            <a:ext cx="10058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F5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可互動儀表板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94360" y="3858768"/>
            <a:ext cx="2377440" cy="0"/>
          </a:xfrm>
          <a:prstGeom prst="line">
            <a:avLst/>
          </a:prstGeom>
          <a:noFill/>
          <a:ln w="19050">
            <a:solidFill>
              <a:srgbClr val="7FB3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0690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DD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換一份資料，畫面自己重算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94360" y="4526280"/>
            <a:ext cx="9144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順便看清楚：這種做法的邊界在哪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9E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72084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23760" y="13716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4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成品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7223760" y="17830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多了一顆「上傳 CSV」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7223760" y="2971800"/>
            <a:ext cx="4480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選一個檔案，所有數字、進度條、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標籤全部重算。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下週要更新報表，換檔案就好，</a:t>
            </a:r>
            <a:endParaRPr lang="en-US" sz="15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不用再找 AI 重做一次。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9E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solidFill>
            <a:srgbClr val="E9ECEB"/>
          </a:solidFill>
          <a:ln w="12700">
            <a:solidFill>
              <a:srgbClr val="1C4D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4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4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COMPARE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9997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同一份儀表板，差在哪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5394960" cy="3017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2212848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B75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78408" y="2542032"/>
            <a:ext cx="4626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數字寫死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978408" y="3200400"/>
            <a:ext cx="4626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4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更新資料 = 重做一份網頁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78408" y="3730752"/>
            <a:ext cx="4626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4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適合一次性的簡報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78408" y="4261104"/>
            <a:ext cx="4626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4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檔案會愈積愈多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965960"/>
            <a:ext cx="5394960" cy="3017520"/>
          </a:xfrm>
          <a:prstGeom prst="rect">
            <a:avLst/>
          </a:prstGeom>
          <a:solidFill>
            <a:srgbClr val="FFFFFF"/>
          </a:solidFill>
          <a:ln w="19050">
            <a:solidFill>
              <a:srgbClr val="1C4D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01968" y="2212848"/>
            <a:ext cx="4626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C4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STAGE 04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601968" y="2542032"/>
            <a:ext cx="4626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可以換資料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6601968" y="3200400"/>
            <a:ext cx="4626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4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更新資料 = 換一個檔案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01968" y="3730752"/>
            <a:ext cx="4626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4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適合每週固定要出的報表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01968" y="4261104"/>
            <a:ext cx="4626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4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網頁只要一份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" y="5257800"/>
            <a:ext cx="11002975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" y="5257800"/>
            <a:ext cx="10234879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多學的那一件事：讓網頁自己去讀檔案，而不是把答案先寫進去。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9E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solidFill>
            <a:srgbClr val="E9ECEB"/>
          </a:solidFill>
          <a:ln w="12700">
            <a:solidFill>
              <a:srgbClr val="1C4D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4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4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9997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一個要記住的邊界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4360" y="2011680"/>
            <a:ext cx="11002975" cy="1371600"/>
          </a:xfrm>
          <a:prstGeom prst="rect">
            <a:avLst/>
          </a:prstGeom>
          <a:solidFill>
            <a:srgbClr val="16201D"/>
          </a:solidFill>
          <a:ln w="12700">
            <a:solidFill>
              <a:srgbClr val="1620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011680"/>
            <a:ext cx="100885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2F5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這是「快照」，不是「即時系統」。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4360" y="3657600"/>
            <a:ext cx="53949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3886200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做得到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78408" y="4343400"/>
            <a:ext cx="4626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4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上傳檔案，畫面立刻重算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78408" y="4855464"/>
            <a:ext cx="4626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4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完全不需要伺服器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78408" y="5367528"/>
            <a:ext cx="4626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4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資料不會外流，只在你電腦裡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3657600"/>
            <a:ext cx="53949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01968" y="3886200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做不到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01968" y="4343400"/>
            <a:ext cx="4626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4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關掉頁面，上傳的資料就沒了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01968" y="4855464"/>
            <a:ext cx="4626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4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別人打開看不到你的資料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01968" y="5367528"/>
            <a:ext cx="4626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4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資料源頭改了，不會自動同步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9E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solidFill>
            <a:srgbClr val="E9ECEB"/>
          </a:solidFill>
          <a:ln w="12700">
            <a:solidFill>
              <a:srgbClr val="1C4D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4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4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LEVEL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9997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什麼時候才真的需要工程師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以下三種需求，超出今天教的範圍 —— 但你已經知道怎麼把需求講清楚了。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94360" y="2286000"/>
            <a:ext cx="11002975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78408" y="2651760"/>
            <a:ext cx="292608" cy="292608"/>
          </a:xfrm>
          <a:prstGeom prst="rect">
            <a:avLst/>
          </a:prstGeom>
          <a:solidFill>
            <a:srgbClr val="1C4D78"/>
          </a:solidFill>
          <a:ln/>
        </p:spPr>
      </p:sp>
      <p:sp>
        <p:nvSpPr>
          <p:cNvPr id="9" name="Text 7"/>
          <p:cNvSpPr/>
          <p:nvPr/>
        </p:nvSpPr>
        <p:spPr>
          <a:xfrm>
            <a:off x="1554480" y="2395728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多人同時看同一份資料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2816352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業務改了數字，主管那邊要立刻看到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4360" y="3493008"/>
            <a:ext cx="11002975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78408" y="3858768"/>
            <a:ext cx="292608" cy="292608"/>
          </a:xfrm>
          <a:prstGeom prst="rect">
            <a:avLst/>
          </a:prstGeom>
          <a:solidFill>
            <a:srgbClr val="1C4D78"/>
          </a:solidFill>
          <a:ln/>
        </p:spPr>
      </p:sp>
      <p:sp>
        <p:nvSpPr>
          <p:cNvPr id="13" name="Text 11"/>
          <p:cNvSpPr/>
          <p:nvPr/>
        </p:nvSpPr>
        <p:spPr>
          <a:xfrm>
            <a:off x="1554480" y="360273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資料要長期累積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023360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要能查半年前的進度，做趨勢比較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4700016"/>
            <a:ext cx="11002975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8408" y="5065776"/>
            <a:ext cx="292608" cy="292608"/>
          </a:xfrm>
          <a:prstGeom prst="rect">
            <a:avLst/>
          </a:prstGeom>
          <a:solidFill>
            <a:srgbClr val="1C4D78"/>
          </a:solidFill>
          <a:ln/>
        </p:spPr>
      </p:sp>
      <p:sp>
        <p:nvSpPr>
          <p:cNvPr id="17" name="Text 15"/>
          <p:cNvSpPr/>
          <p:nvPr/>
        </p:nvSpPr>
        <p:spPr>
          <a:xfrm>
            <a:off x="1554480" y="480974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自動從別的系統抓資料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5230368"/>
            <a:ext cx="9326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不想每次手動匯出 Excel 再上傳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4360" y="5989320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4D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知道邊界在哪，也是一種專業 —— 你會知道什麼時候該找人幫忙。</a:t>
            </a:r>
            <a:endParaRPr lang="en-US" sz="15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9E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solidFill>
            <a:srgbClr val="E9ECEB"/>
          </a:solidFill>
          <a:ln w="12700">
            <a:solidFill>
              <a:srgbClr val="1C4D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4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72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 注意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9997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Excel 存 CSV 有個坑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11002975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A8721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965960"/>
            <a:ext cx="1008857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另存新檔時，一定要選「CSV UTF-8（逗號分隔）」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94360" y="3520440"/>
            <a:ext cx="5394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3749040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8352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選錯會怎樣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78408" y="4206240"/>
            <a:ext cx="4626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Windows 版 Excel 預設存的是 Big5 編碼，網頁讀進去中文會整片變亂碼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0" y="3520440"/>
            <a:ext cx="5394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1968" y="3749040"/>
            <a:ext cx="4626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7D4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怎麼確認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01968" y="4206240"/>
            <a:ext cx="462686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300"/>
              </a:lnSpc>
              <a:buNone/>
            </a:pPr>
            <a:r>
              <a:rPr lang="en-US" sz="1400" dirty="0">
                <a:solidFill>
                  <a:srgbClr val="2C3A3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另存新檔的下拉選單裡，找有寫「UTF-8」那一個，不是最上面那個「CSV」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5760720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721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這是全場最容易卡住的地方，先講在前面。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9E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solidFill>
            <a:srgbClr val="E9ECEB"/>
          </a:solidFill>
          <a:ln w="12700">
            <a:solidFill>
              <a:srgbClr val="1C4D7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4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4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PRACTICE · 30 min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9997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換一份資料，看畫面自己算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475488" cy="475488"/>
          </a:xfrm>
          <a:prstGeom prst="rect">
            <a:avLst/>
          </a:prstGeom>
          <a:solidFill>
            <a:srgbClr val="1C4D78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196596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先用範例檔跑一次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196596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確認上傳流程會動，知道畫面會怎麼變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2971800"/>
            <a:ext cx="475488" cy="475488"/>
          </a:xfrm>
          <a:prstGeom prst="rect">
            <a:avLst/>
          </a:prstGeom>
          <a:solidFill>
            <a:srgbClr val="1C4D78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971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97180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換成自己的資料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715000" y="297180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欄位名稱對上，存成 CSV UTF-8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3977640"/>
            <a:ext cx="475488" cy="475488"/>
          </a:xfrm>
          <a:prstGeom prst="rect">
            <a:avLst/>
          </a:prstGeom>
          <a:solidFill>
            <a:srgbClr val="1C4D7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9776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397764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故意改幾個數字再上傳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715000" y="397764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 KPI 跟著跳 —— 這就是「互動」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" y="4983480"/>
            <a:ext cx="475488" cy="475488"/>
          </a:xfrm>
          <a:prstGeom prst="rect">
            <a:avLst/>
          </a:prstGeom>
          <a:solidFill>
            <a:srgbClr val="1C4D78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49834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71600" y="4983480"/>
            <a:ext cx="4206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想想這能用在你哪份報表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715000" y="4983480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每週要做的那份，是不是可以省下來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" y="5989320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4D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第四步才是重點 —— 做出來只是開始，用得上才有價值。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9E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solidFill>
            <a:srgbClr val="E9ECEB"/>
          </a:solidFill>
          <a:ln w="12700">
            <a:solidFill>
              <a:srgbClr val="8A6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F-01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9997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你今天學會的四件事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4360" y="1920240"/>
            <a:ext cx="11002975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8408" y="1920240"/>
            <a:ext cx="548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691640" y="1920240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把需求講清楚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623560" y="1920240"/>
            <a:ext cx="5852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四個要素：做什麼、關於誰、要有什麼、什麼調性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94360" y="2971800"/>
            <a:ext cx="11002975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" y="2971800"/>
            <a:ext cx="548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91640" y="2971800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檔案怎麼跟網頁連結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623560" y="2971800"/>
            <a:ext cx="5852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網頁只記住圖片放在哪，換檔案就換圖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4023360"/>
            <a:ext cx="11002975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8408" y="4023360"/>
            <a:ext cx="548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4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691640" y="4023360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資料怎麼變成畫面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623560" y="4023360"/>
            <a:ext cx="5852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先整理乾淨，再決定哪一欄要被強調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94360" y="5074920"/>
            <a:ext cx="11002975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8408" y="5074920"/>
            <a:ext cx="54864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4D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91640" y="5074920"/>
            <a:ext cx="38404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靜態與互動的差別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623560" y="5074920"/>
            <a:ext cx="5852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以及什麼時候該找工程師幫忙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9E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solidFill>
            <a:srgbClr val="E9ECEB"/>
          </a:solidFill>
          <a:ln w="12700">
            <a:solidFill>
              <a:srgbClr val="8A6A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018520" y="457200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F-02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94360" y="4754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A6A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841248"/>
            <a:ext cx="99971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回去可以先做哪一件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594360" y="1965960"/>
            <a:ext cx="5394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78408" y="2258568"/>
            <a:ext cx="274320" cy="274320"/>
          </a:xfrm>
          <a:prstGeom prst="rect">
            <a:avLst/>
          </a:prstGeom>
          <a:solidFill>
            <a:srgbClr val="1C4D78"/>
          </a:solidFill>
          <a:ln/>
        </p:spPr>
      </p:sp>
      <p:sp>
        <p:nvSpPr>
          <p:cNvPr id="8" name="Text 6"/>
          <p:cNvSpPr/>
          <p:nvPr/>
        </p:nvSpPr>
        <p:spPr>
          <a:xfrm>
            <a:off x="1508760" y="21671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工地週報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508760" y="267919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把每週的進度表做成儀表板，開會直接投影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1965960"/>
            <a:ext cx="5394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01968" y="2258568"/>
            <a:ext cx="274320" cy="274320"/>
          </a:xfrm>
          <a:prstGeom prst="rect">
            <a:avLst/>
          </a:prstGeom>
          <a:solidFill>
            <a:srgbClr val="8A6A3E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0" y="21671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建案介紹頁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7132320" y="267919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新案子的簡介，不用等廣告公司排版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3703320"/>
            <a:ext cx="5394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8408" y="3995928"/>
            <a:ext cx="274320" cy="274320"/>
          </a:xfrm>
          <a:prstGeom prst="rect">
            <a:avLst/>
          </a:prstGeom>
          <a:solidFill>
            <a:srgbClr val="8A6A3E"/>
          </a:solidFill>
          <a:ln/>
        </p:spPr>
      </p:sp>
      <p:sp>
        <p:nvSpPr>
          <p:cNvPr id="16" name="Text 14"/>
          <p:cNvSpPr/>
          <p:nvPr/>
        </p:nvSpPr>
        <p:spPr>
          <a:xfrm>
            <a:off x="1508760" y="39044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內部活動報名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508760" y="441655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尾牙、教育訓練的說明頁，自己一小時做完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17920" y="3703320"/>
            <a:ext cx="5394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3C9C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01968" y="3995928"/>
            <a:ext cx="274320" cy="274320"/>
          </a:xfrm>
          <a:prstGeom prst="rect">
            <a:avLst/>
          </a:prstGeom>
          <a:solidFill>
            <a:srgbClr val="1C4D78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0" y="390448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01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銷售日報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132320" y="4416552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把每日成交數字做成一頁，主管自己看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" y="5760720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6A3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挑最小、最常做、最煩的那一件開始 —— 一週內做得完的才會真的做。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620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10312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C2A2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POINT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265176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3600" b="1" dirty="0">
                <a:solidFill>
                  <a:srgbClr val="F2F5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你缺的從來不是技術，</a:t>
            </a:r>
            <a:endParaRPr lang="en-US" sz="36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3600" b="1" dirty="0">
                <a:solidFill>
                  <a:srgbClr val="F2F5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是有人告訴你「其實你可以」。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94360" y="4709160"/>
            <a:ext cx="2926080" cy="0"/>
          </a:xfrm>
          <a:prstGeom prst="line">
            <a:avLst/>
          </a:prstGeom>
          <a:noFill/>
          <a:ln w="19050">
            <a:solidFill>
              <a:srgbClr val="8A6A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983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57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課後材料：四個階段的完整範例，都在共用資料夾裡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三小時，做出自己的網頁</dc:title>
  <dc:subject>PptxGenJS Presentation</dc:subject>
  <dc:creator>vibe coding 工作坊</dc:creator>
  <cp:lastModifiedBy>vibe coding 工作坊</cp:lastModifiedBy>
  <cp:revision>1</cp:revision>
  <dcterms:created xsi:type="dcterms:W3CDTF">2026-08-06T07:31:09Z</dcterms:created>
  <dcterms:modified xsi:type="dcterms:W3CDTF">2026-08-06T07:31:09Z</dcterms:modified>
</cp:coreProperties>
</file>