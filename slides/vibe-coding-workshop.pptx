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ink/ink3.xml" ContentType="application/inkml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ink/ink4.xml" ContentType="application/inkml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91" r:id="rId4"/>
    <p:sldId id="258" r:id="rId5"/>
    <p:sldId id="307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94" r:id="rId14"/>
    <p:sldId id="296" r:id="rId15"/>
    <p:sldId id="295" r:id="rId16"/>
    <p:sldId id="305" r:id="rId17"/>
    <p:sldId id="321" r:id="rId18"/>
    <p:sldId id="267" r:id="rId19"/>
    <p:sldId id="268" r:id="rId20"/>
    <p:sldId id="269" r:id="rId21"/>
    <p:sldId id="270" r:id="rId22"/>
    <p:sldId id="271" r:id="rId23"/>
    <p:sldId id="293" r:id="rId24"/>
    <p:sldId id="272" r:id="rId25"/>
    <p:sldId id="273" r:id="rId26"/>
    <p:sldId id="297" r:id="rId27"/>
    <p:sldId id="300" r:id="rId28"/>
    <p:sldId id="299" r:id="rId29"/>
    <p:sldId id="301" r:id="rId30"/>
    <p:sldId id="302" r:id="rId31"/>
    <p:sldId id="303" r:id="rId32"/>
    <p:sldId id="306" r:id="rId33"/>
    <p:sldId id="308" r:id="rId34"/>
    <p:sldId id="311" r:id="rId35"/>
    <p:sldId id="309" r:id="rId36"/>
    <p:sldId id="310" r:id="rId37"/>
    <p:sldId id="320" r:id="rId38"/>
    <p:sldId id="274" r:id="rId39"/>
    <p:sldId id="275" r:id="rId40"/>
    <p:sldId id="276" r:id="rId41"/>
    <p:sldId id="277" r:id="rId42"/>
    <p:sldId id="278" r:id="rId43"/>
    <p:sldId id="279" r:id="rId44"/>
    <p:sldId id="312" r:id="rId45"/>
    <p:sldId id="313" r:id="rId46"/>
    <p:sldId id="314" r:id="rId47"/>
    <p:sldId id="318" r:id="rId48"/>
    <p:sldId id="280" r:id="rId49"/>
    <p:sldId id="281" r:id="rId50"/>
    <p:sldId id="282" r:id="rId51"/>
    <p:sldId id="283" r:id="rId52"/>
    <p:sldId id="315" r:id="rId53"/>
    <p:sldId id="286" r:id="rId54"/>
    <p:sldId id="316" r:id="rId55"/>
    <p:sldId id="317" r:id="rId56"/>
    <p:sldId id="319" r:id="rId57"/>
    <p:sldId id="287" r:id="rId58"/>
    <p:sldId id="284" r:id="rId59"/>
    <p:sldId id="288" r:id="rId60"/>
    <p:sldId id="285" r:id="rId61"/>
    <p:sldId id="289" r:id="rId62"/>
    <p:sldId id="290" r:id="rId6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566B"/>
    <a:srgbClr val="54656F"/>
    <a:srgbClr val="8A65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98" autoAdjust="0"/>
    <p:restoredTop sz="94610"/>
  </p:normalViewPr>
  <p:slideViewPr>
    <p:cSldViewPr snapToGrid="0" snapToObjects="1">
      <p:cViewPr>
        <p:scale>
          <a:sx n="150" d="100"/>
          <a:sy n="150" d="100"/>
        </p:scale>
        <p:origin x="42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7T05:08:42.9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5445 1527 21261,'-2'60'0,"-4"0"0,-5-1 0,-3 1 0,-5-1 0,-4-1 0,-4 0 0,-4 0 0,-4-2 0,-4 0 0,-4-1 0,-4-1 0,-3-1 0,-4-1 0,-4-2 0,-3-1 0,-3-1 0,-4-2 0,-3-1 0,-3-1 0,-3-3 0,-3-1 0,-3-2 0,-2-2 0,-3-2 0,-2-1 0,-2-3 0,-2-2 0,-3-2 0,-1-1 0,-1-4 0,-2-1 0,-1-3 0,-2-1 0,0-4 0,-2-1 0,1-3 0,-2-2 0,0-2 0,1-3 0,-1-2 0,0-3 0,1-2 0,0-2 0,0-3 0,2-1 0,1-4 0,0-1 0,2-3 0,2-1 0,1-4 0,2-1 0,1-2 0,3-2 0,2-3 0,2-1 0,3-2 0,2-2 0,3-2 0,3-1 0,3-3 0,3-1 0,3-1 0,4-2 0,3-1 0,3-1 0,4-2 0,4-1 0,3-1 0,4-1 0,4-1 0,4 0 0,4-2 0,4 0 0,4 0 0,5-1 0,3-1 0,4 1 0,5-1 0,4 0 0,4 0 0,4 0 0,5 0 0,4 1 0,3 0 0,5 0 0,4 1 0,4 1 0,4 0 0,4 2 0,4 0 0,4 1 0,3 1 0,4 1 0,4 2 0,3 0 0,3 3 0,4 0 0,3 2 0,3 2 0,3 2 0,3 1 0,3 2 0,2 2 0,3 1 0,2 3 0,2 2 0,3 1 0,1 3 0,2 2 0,1 2 0,2 3 0,2 1 0,0 3 0,1 2 0,2 3 0,0 2 0,0 2 0,1 2 0,0 3 0,-1 2 0,1 3 0,0 2 0,-2 2 0,1 2 0,-2 3 0,0 2 0,-2 3 0,-1 1 0,-2 3 0,-1 2 0,-1 2 0,-3 3 0,-2 1 0,-2 2 0,-2 3 0,-3 1 0,-2 2 0,-3 2 0,-3 1 0,-3 2 0,-3 2 0,-3 2 0,-4 0 0,-3 3 0,-3 0 0,-4 2 0,-4 1 0,-3 1 0,-4 1 0,-4 0 0,-4 2 0,-4 0 0,-4 1 0,-4 1 0,-4 0 0,-5 0 0,-3 1 0,-5 0 0,-4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7T05:11:26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24491,'0'999'0,"3678"-999"0,-3678-999 0,-3678 999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7T06:28:15.8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24491,'0'1632'0,"19010"-1632"0,-19010-1632 0,-19010 1632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7T06:28:15.8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24491,'0'1632'0,"19010"-1632"0,-19010-1632 0,-19010 1632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5643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開場先問一句：今天在座有多少人自己做過網頁？通常是零。這正是重點——三小時後，每個人手上都會有一個能打開給主管看的東西。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強調：四階段是疊加，不是四個獨立主題。每一階段只多學一件事。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F1A62-D0A2-902F-3933-82BD7847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DF2F1C-F6D9-9163-D5EF-92CD293706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06BCA-A4CC-7C63-84EC-780E9538FD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強調：四階段是疊加，不是四個獨立主題。每一階段只多學一件事。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40FCBB-26F2-7DC7-C4FA-54BBF4D57E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518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這頁是全場最重要的期待管理。非資訊背景學員最怕的就是「看不懂 code」，先把這個焦慮拆掉。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28FB5-5E83-23B1-5A9A-BC920950E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8E411-ABE1-6601-9CD7-663D8116F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22AF6-E3D5-70E5-F8E8-F3A3E9F18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這頁是全場最重要的期待管理。非資訊背景學員最怕的就是「看不懂 code」，先把這個焦慮拆掉。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1EDBF-6978-63A6-E922-03420DD205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2748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先給成品，再講怎麼做。學員看到具體目標才有動力聽觀念。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讓學員唸一次那句話。他們會發現這根本不是技術語言，就是日常工作語言。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現場可以真的跑一次左邊的指令，讓學員看到通用結果有多空洞，再跑右邊。對比最有說服力。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請學員拿紙筆，把自己的案子按這四點寫下來。寫完直接貼進 AI，這就是第一次實作。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巡場重點：卡住的人多半是「不知道要做什麼」，不是不會下指令。直接幫他挑一個題目。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648E5-07EC-F2A3-CDFF-D5063057C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049AE-59CC-76A4-E0A1-BC167FB9C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135B2-D1AC-DE56-0D08-EAFD7A9AA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C2E11-106C-2187-1097-4472685FCC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5340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6D8B2-5E05-86A1-437D-CAAC54897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B070F8-961B-CB8D-C3DB-75C5F9E1A4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13ECA-D99E-9CDD-6F1E-CDE0DA278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24283-103D-5DF4-C872-5DA2031F19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80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2B718-2608-1B5D-2ED1-435203DC1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1EC67A-AFE2-DF01-EE7A-B3ED52872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A8718B-9620-2858-A93E-87A85B0F9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6412D-7AA6-9BCD-02DF-BB811E24C9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875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1B819-2D84-2330-EE66-AAD587B8B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6321CC-0ABB-323C-F4D1-2D80F62C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940D2-EA87-C201-7219-1CAA3CCAD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E3A07-DFD2-271E-2FC6-F7D573492A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4707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A3B8-72D3-4750-D20E-4CC487577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B5DF32-C441-1072-C932-6713FA6B2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84B520-8B8A-AB2F-6750-3D65BF1DE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09C82-6785-48A5-E04C-B2C73B85D6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8297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這一頁的情緒點是「擁有感」。放自己拍的工地照片，學員的態度會明顯不一樣。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這句話是整個 Stage 02 的核心。講完先停一下，讓它沉下去再往下走。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最後這句是實務上最常出包的地方，一定要講。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不用教 HTML 語法，只要讓他們認得 src 這個字，以及斜線代表「資料夾裡面」。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2DD1B-F4B2-8739-4845-30DCCDB02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5DC682-68A2-2E34-810E-A543676F1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2C1A8-C768-8025-0875-C209A7CE1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巡場重點：卡住的人多半是「不知道要做什麼」，不是不會下指令。直接幫他挑一個題目。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F4050-AA25-EF74-E353-B7ADE9007A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2606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最後那句要用力講——它把 Stage 02 扣回課程主軸：不會做就描述需求。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建議現場故意打錯一次檔名，讓學員看到破圖，再修好。體驗過一次比講三遍有用。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1FD73-9B5A-869E-BA30-52878C822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6ACE6-DC9F-2CD4-C691-6BB16924DD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A13E6-A875-0415-7573-997F5C699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CB698D-59A5-A9BD-80AD-5D06A91725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29231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61F0D-9786-20FA-BE62-5171FB011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BF4EE-B476-1B2B-68B4-D6F545D4B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CD2231-7760-6570-36DC-98B763FA90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95A1E1-3CF8-579D-1004-285100CB77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2715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C2AB9-69F8-5C30-0E2F-7772EADF0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83D4DE-09A3-1F66-F74D-9B86FC9EE1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8FB48B-2571-B26A-2A7D-984A3DCF6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39D8B5-F1CA-1680-6E3C-453880B8CF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34182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BEFC3-E7C2-1A5F-304E-E9836036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C4F7E-0722-9C4A-F555-CB2F7BF65A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30AA67-96AD-4930-B240-D533D67DE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615F83-DA5E-6F4C-E1AE-7D5852986B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1262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D5A67-F666-9721-36B4-EF18B655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5DDD8B-5C71-3759-38AD-F69CD5D3EB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2534E-F80C-485C-3384-6092C9E0F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A9032-967D-2E67-C3C3-1A23C193CC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9453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242E0-A16E-DE1E-98A4-D57004462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75CC0E-6D1D-D2CF-3D62-C2B9AAB916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7B2004-AFFB-2B4F-E130-5E85F14F41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84BB8-A47B-85C9-3BEB-674BC9C8D5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1880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D2EA9-8142-F619-523F-DAEEA20F0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E67D3-D597-954D-8D99-0440DE89E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836B5B-E0A1-2CC2-4826-6D57F89D2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3FD6F-E630-200E-9772-58FBE6D61F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2294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1B81A-D370-8CCE-2D20-36A39758D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7EC789-798E-A4A9-7C55-DDDF50E56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D6BD42-D908-9CE9-7E3B-2FA00C2AF8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EA8E8-EC4A-0A70-D065-0F8EF5EC8A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5670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FBF4F-ADA4-C090-0820-0AF675620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EAB7E1-A508-8B01-B1BC-6D03048774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6C131E-811D-E385-5E0B-A714CD568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82521-B814-3E5D-5271-5A7C3C4F72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0611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E7A3E-EEF2-AF70-BAB8-45D701BE5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46F359-8D08-FE53-7CE8-F9708FCED8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9269D0-122E-9E0D-72D8-52244F377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197FC-6EFE-1960-D059-E34C852764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9023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A3AC4-A8BC-720B-600E-082E99051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C6A1E-6255-A4A9-EB4E-95C5C44A99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B572BE-CEC3-E874-9E08-48F3A26CC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1C71D-7336-5410-6384-2446FFFD77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000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E326-7275-5AD7-FB52-20A44F618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70EFDD-536B-3298-3BC6-5921A3207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2C13B4-89E9-9D97-2B89-6ABFA9D5EA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3EC66-20FA-7072-2797-789444AE8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3723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可以先投影一份真的 Excel，再切到這頁。落差感很強。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很多學員會覺得「資料」是個很技術的詞。要把它拉回「你每週在填的那張表」。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 Stage 03 最實用的內容。多數人做不出好圖表，問題出在資料，不在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帶學員看一次自己的表：哪一欄是要被強調的？那就是 KPI。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務必準備好範例 CSV，一定會有人沒帶資料。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F5ED9-110C-3947-DAC3-2A289F766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78BB1-3E8E-68A4-68D5-7F5BAA4BC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B42F8C-4C17-62CC-A0AF-0E9F01252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刻意讓學員感受到痛點，Stage 04 的價值才會被看見。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02BBF2-0DF5-A742-5C03-6DE89FAF59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93529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CA058-EDDE-877F-19E2-555858372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AFF836-A71F-EC0B-B36A-DD0508FF1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B80FC3-6058-B3EB-4E35-0FA4AA5725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刻意讓學員感受到痛點，Stage 04 的價值才會被看見。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392A4-2B75-FACC-CB48-70D1CDA976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04641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82983-5B8A-E531-8147-BDEBDF05C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FA7D43-1D10-F682-5F24-287D5FE02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47B77-44B9-3598-9EA4-9E82D13877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刻意讓學員感受到痛點，Stage 04 的價值才會被看見。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8E56E-DCCF-CAD2-3207-F153B3B960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360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8BB9D-AF65-7364-499F-B0C1BCB6C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7F5B3-13C8-506C-29B8-0BE3AFD9B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600778-4C87-6DC2-850A-AD44192F68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刻意讓學員感受到痛點，Stage 04 的價值才會被看見。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37CB9D-436A-0913-33EC-5FD37CA86C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0707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刻意讓學員感受到痛點，Stage 04 的價值才會被看見。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現場一定要示範上傳一次。看到數字整排跳動的瞬間，是全場反應最大的地方。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把兩個網頁並排開兩個分頁對照，比投影片有效。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DE824-789C-0B29-3B03-4B0A918D6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BE5A82-E1A3-99EE-8ABC-6ED952D53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964AD0-207B-580D-2A0C-B960C4DBA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696B8-D20D-DD59-CE16-C2B7843EEF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4216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6F0FC-4D3D-9F7A-6634-4F1CCF51A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F3388-DEEA-3FA8-8088-20B09CD96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B674C-BE42-F086-B0A8-D63677303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C0818-2388-F012-4499-FA11C14DEE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894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4D118-E54B-E562-FFB4-CFF3195D0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CAE19E-03A3-7EF3-795A-1FE40ABC7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52486-8E25-4C05-BE80-70CC27F8A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DFFDB-55F3-5F69-0632-185522E4B1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52141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E6C25-0C28-E462-B132-7B1504D55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C3526-9319-1F05-76BD-5EEE8F538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1AB83D-3966-D4BB-7DCC-027090F25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A370F-DDBC-A496-190C-8EB78387F6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9235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留最後十分鐘讓幾位學員分享自己做的東西，收尾效果最好。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不要把「做不到」講成缺點。週報、月報本來就是快照，這個做法完全match真實工作情境。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回顧時強調：這四件事沒有一件需要記語法。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這頁的作用是讓學員不要對這套方法過度期待，也不要低估自己已經能做的事。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鼓勵當場認領一件，散會前寫在便利貼上。有承諾才有後續。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收尾不要再講技術。留一句能帶回去的話就好。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../demos/&#29694;&#22580;&#25805;&#20316;&#31684;&#20363;&#20013;&#30340;&#32178;&#38913;/musen_residence_one_page_no_image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png"/><Relationship Id="rId7" Type="http://schemas.openxmlformats.org/officeDocument/2006/relationships/customXml" Target="../ink/ink2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customXml" Target="../ink/ink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../demos/&#29694;&#22580;&#25805;&#20316;&#31684;&#20363;&#20013;&#30340;&#32178;&#38913;/musen_residence_one_page_with_image.html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../demos/&#29694;&#22580;&#25805;&#20316;&#31684;&#20363;&#20013;&#30340;&#32178;&#38913;/musen_residence_with_calculator.html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../demos/&#29694;&#22580;&#25805;&#20316;&#31684;&#20363;&#20013;&#30340;&#20736;&#34920;&#26495;/&#24314;&#26696;&#36914;&#24230;&#20736;&#34920;&#26495;.html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customXml" Target="../ink/ink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../demos/&#29694;&#22580;&#25805;&#20316;&#31684;&#20363;&#20013;&#30340;&#20736;&#34920;&#26495;/&#24314;&#26696;&#36914;&#24230;&#20736;&#34920;&#26495;&#26377;&#21151;&#33021;.html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kern="0" spc="30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應用工作坊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943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 err="1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三小時</a:t>
            </a:r>
            <a:r>
              <a:rPr lang="zh-TW" altLang="en-US" sz="6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學會與</a:t>
            </a:r>
            <a:r>
              <a:rPr lang="en-US" altLang="zh-TW" sz="6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r>
              <a:rPr lang="zh-TW" altLang="en-US" sz="6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協作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9436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kern="0" spc="200" dirty="0">
                <a:solidFill>
                  <a:srgbClr val="A5A79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Coding, Just Talking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4360" y="4754880"/>
            <a:ext cx="2926080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4983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全程以「沐森」建案為例，四個階段逐步累積</a:t>
            </a:r>
            <a:endParaRPr lang="en-US" sz="13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A13BE08-C1A4-B4D2-9D07-3FD0DF6F8ED5}"/>
              </a:ext>
            </a:extLst>
          </p:cNvPr>
          <p:cNvSpPr/>
          <p:nvPr/>
        </p:nvSpPr>
        <p:spPr>
          <a:xfrm>
            <a:off x="9007254" y="5891701"/>
            <a:ext cx="3301312" cy="579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</a:rPr>
              <a:t>主講</a:t>
            </a:r>
            <a:r>
              <a:rPr lang="en-US" altLang="zh-TW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</a:rPr>
              <a:t>:</a:t>
            </a:r>
            <a:r>
              <a:rPr lang="zh-TW" altLang="en-US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</a:rPr>
              <a:t> 李家瑩教授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甚麼是生成式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81325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92424" y="2181325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2181325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88552" y="2181325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71AE3265-6E7E-A681-A689-99F5275F5402}"/>
              </a:ext>
            </a:extLst>
          </p:cNvPr>
          <p:cNvSpPr/>
          <p:nvPr/>
        </p:nvSpPr>
        <p:spPr>
          <a:xfrm>
            <a:off x="1252728" y="1769845"/>
            <a:ext cx="1177651" cy="338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ChatGPT</a:t>
            </a:r>
            <a:endParaRPr lang="en-US" sz="19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7D34C1CF-6CBC-395D-01B0-BEC86A772C83}"/>
              </a:ext>
            </a:extLst>
          </p:cNvPr>
          <p:cNvSpPr/>
          <p:nvPr/>
        </p:nvSpPr>
        <p:spPr>
          <a:xfrm>
            <a:off x="868679" y="2461781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學習模式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: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 大量閱讀、觀看人類創作並自行學習規律的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AI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類型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FE5590D9-F2CC-A221-66CA-CAEDF2267E00}"/>
              </a:ext>
            </a:extLst>
          </p:cNvPr>
          <p:cNvSpPr/>
          <p:nvPr/>
        </p:nvSpPr>
        <p:spPr>
          <a:xfrm>
            <a:off x="4298723" y="1779069"/>
            <a:ext cx="1177651" cy="338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</a:t>
            </a:r>
            <a:endParaRPr lang="en-US" sz="1900" dirty="0"/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12DB5598-03E4-BB68-301B-108DA29D77E1}"/>
              </a:ext>
            </a:extLst>
          </p:cNvPr>
          <p:cNvSpPr/>
          <p:nvPr/>
        </p:nvSpPr>
        <p:spPr>
          <a:xfrm>
            <a:off x="7104087" y="1780673"/>
            <a:ext cx="1177651" cy="338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</a:t>
            </a:r>
            <a:endParaRPr lang="en-US" sz="1900" dirty="0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9CF46B28-21E9-B5A9-32A8-7AAD765A5662}"/>
              </a:ext>
            </a:extLst>
          </p:cNvPr>
          <p:cNvSpPr/>
          <p:nvPr/>
        </p:nvSpPr>
        <p:spPr>
          <a:xfrm>
            <a:off x="9761621" y="1777062"/>
            <a:ext cx="1177651" cy="338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DeepSeek</a:t>
            </a:r>
            <a:endParaRPr lang="en-US" sz="1900" dirty="0"/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40A88B67-8A23-B1B5-5C96-784F2A8EDDBB}"/>
              </a:ext>
            </a:extLst>
          </p:cNvPr>
          <p:cNvSpPr/>
          <p:nvPr/>
        </p:nvSpPr>
        <p:spPr>
          <a:xfrm>
            <a:off x="868679" y="3279588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接收提示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: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 透過文字或指令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(Prompt)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提出需求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7F0AEC95-D01C-1C62-AC88-4D82E49C06B8}"/>
              </a:ext>
            </a:extLst>
          </p:cNvPr>
          <p:cNvSpPr/>
          <p:nvPr/>
        </p:nvSpPr>
        <p:spPr>
          <a:xfrm>
            <a:off x="868679" y="4097395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創造輸出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: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 依據學習經驗與提示指令，產出獨一無二且符合你要求的文字、圖片、報告、程式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41" name="Text 6">
            <a:extLst>
              <a:ext uri="{FF2B5EF4-FFF2-40B4-BE49-F238E27FC236}">
                <a16:creationId xmlns:a16="http://schemas.microsoft.com/office/drawing/2014/main" id="{2F9005A5-BE65-FFD2-3257-1FB7CA9878F9}"/>
              </a:ext>
            </a:extLst>
          </p:cNvPr>
          <p:cNvSpPr/>
          <p:nvPr/>
        </p:nvSpPr>
        <p:spPr>
          <a:xfrm>
            <a:off x="868679" y="5239031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提示種類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: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 文字、圖片、檔案、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AI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對你的記憶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597E010B-44C1-3178-D6CB-AA9F5BD45A46}"/>
              </a:ext>
            </a:extLst>
          </p:cNvPr>
          <p:cNvSpPr/>
          <p:nvPr/>
        </p:nvSpPr>
        <p:spPr>
          <a:xfrm>
            <a:off x="738739" y="6016752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Key Point: </a:t>
            </a:r>
            <a:r>
              <a:rPr lang="zh-TW" alt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</a:t>
            </a:r>
            <a:r>
              <a:rPr lang="en-US" altLang="zh-TW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r>
              <a:rPr lang="zh-TW" alt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當成你的個人虛擬同事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70BA52-0EF6-A9B4-B597-0FD0B2F81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C85D19E-4DB8-257F-BEF6-013F2D96F687}"/>
              </a:ext>
            </a:extLst>
          </p:cNvPr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甚麼是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Vibe Coding(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氛圍編程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DF6A2F6-C0AF-29C3-AB49-5979F2811D37}"/>
              </a:ext>
            </a:extLst>
          </p:cNvPr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272E5501-8B81-E62C-8BC8-38235F641560}"/>
              </a:ext>
            </a:extLst>
          </p:cNvPr>
          <p:cNvSpPr/>
          <p:nvPr/>
        </p:nvSpPr>
        <p:spPr>
          <a:xfrm>
            <a:off x="868679" y="2081703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不用會寫程式、月說的方式，讓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AI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成為你的專屬工程師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D412F885-9958-6EDE-5695-002029C2898C}"/>
              </a:ext>
            </a:extLst>
          </p:cNvPr>
          <p:cNvSpPr/>
          <p:nvPr/>
        </p:nvSpPr>
        <p:spPr>
          <a:xfrm>
            <a:off x="868679" y="2899510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像是建築師，由你負責設計方向與監工審核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631AEADB-C8B9-7CB3-1122-37AC5751B5B3}"/>
              </a:ext>
            </a:extLst>
          </p:cNvPr>
          <p:cNvSpPr/>
          <p:nvPr/>
        </p:nvSpPr>
        <p:spPr>
          <a:xfrm>
            <a:off x="868679" y="3717317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幾分鐘之內就可以把一個點子變成一個可以運作的報告、網頁或是小工具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FDF6E979-157C-3894-187E-B3E9FE992FA8}"/>
              </a:ext>
            </a:extLst>
          </p:cNvPr>
          <p:cNvSpPr/>
          <p:nvPr/>
        </p:nvSpPr>
        <p:spPr>
          <a:xfrm>
            <a:off x="738739" y="5024628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700" b="1" i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想像力就是你的超能力</a:t>
            </a:r>
            <a:endParaRPr lang="en-US" sz="1700" i="1" dirty="0"/>
          </a:p>
        </p:txBody>
      </p:sp>
    </p:spTree>
    <p:extLst>
      <p:ext uri="{BB962C8B-B14F-4D97-AF65-F5344CB8AC3E}">
        <p14:creationId xmlns:p14="http://schemas.microsoft.com/office/powerpoint/2010/main" val="2659348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期待</a:t>
            </a:r>
            <a:r>
              <a:rPr lang="zh-TW" alt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先說清楚：今天不教你寫程式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65960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今天教的是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怎麼把「你要什麼」講清楚給 AI 聽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304495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04495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今天不教的是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20440" y="3044952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HTML、CSS、JavaScript 的語法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4360" y="4123944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12394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你需要準備的是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20440" y="4123944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一份自己部門的資料，或一個想做的東西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4360" y="539496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會下指令的人，不需要會寫程式，也做得出東西</a:t>
            </a:r>
            <a:r>
              <a:rPr 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2C0EEC-950C-FF02-78D4-84F11486B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E7A891-A0A8-DC2F-2B16-42B47B75500F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</a:t>
            </a:r>
            <a:endParaRPr lang="en-US" sz="12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97D4322-AF7A-FB2A-5513-8E0522D1CA28}"/>
              </a:ext>
            </a:extLst>
          </p:cNvPr>
          <p:cNvSpPr txBox="1"/>
          <p:nvPr/>
        </p:nvSpPr>
        <p:spPr>
          <a:xfrm>
            <a:off x="914400" y="1771650"/>
            <a:ext cx="94170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5400" dirty="0"/>
              <a:t>1.GPT: </a:t>
            </a:r>
            <a:r>
              <a:rPr lang="zh-TW" altLang="en-US" sz="5400" dirty="0"/>
              <a:t>https://chatgpt.com/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0ECF35C-E729-9B6E-5D23-90914D58D1F9}"/>
              </a:ext>
            </a:extLst>
          </p:cNvPr>
          <p:cNvSpPr txBox="1"/>
          <p:nvPr/>
        </p:nvSpPr>
        <p:spPr>
          <a:xfrm>
            <a:off x="914399" y="2967335"/>
            <a:ext cx="106829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5400" dirty="0"/>
              <a:t>2.Gemini: https://gemini.google.com</a:t>
            </a:r>
            <a:endParaRPr lang="zh-TW" altLang="en-US" sz="54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E2A7C06-D49F-AC54-7ABF-1C9D5015EB87}"/>
              </a:ext>
            </a:extLst>
          </p:cNvPr>
          <p:cNvSpPr txBox="1"/>
          <p:nvPr/>
        </p:nvSpPr>
        <p:spPr>
          <a:xfrm>
            <a:off x="914400" y="4230985"/>
            <a:ext cx="94170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5400" dirty="0"/>
              <a:t>3.Claude: https://claude.ai/</a:t>
            </a:r>
            <a:endParaRPr lang="zh-TW" altLang="en-US" sz="5400" dirty="0"/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B4585EBE-1803-08B2-1A90-F5C9F65DC944}"/>
              </a:ext>
            </a:extLst>
          </p:cNvPr>
          <p:cNvSpPr/>
          <p:nvPr/>
        </p:nvSpPr>
        <p:spPr>
          <a:xfrm>
            <a:off x="746760" y="9936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前置作業 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- 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註冊</a:t>
            </a:r>
            <a:endParaRPr lang="en-US" sz="3200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5FDCE3ED-FFBD-1950-9565-392CE5C89E61}"/>
              </a:ext>
            </a:extLst>
          </p:cNvPr>
          <p:cNvSpPr/>
          <p:nvPr/>
        </p:nvSpPr>
        <p:spPr>
          <a:xfrm>
            <a:off x="594360" y="539496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每家</a:t>
            </a:r>
            <a:r>
              <a:rPr lang="en-US" altLang="zh-TW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AI</a:t>
            </a:r>
            <a:r>
              <a:rPr lang="zh-TW" alt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各自有不同的強項，我們混合使用，就像團隊中的不同角色</a:t>
            </a:r>
            <a:r>
              <a:rPr lang="en-US" altLang="zh-TW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-&gt;</a:t>
            </a:r>
            <a:r>
              <a:rPr lang="zh-TW" alt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網頁設計</a:t>
            </a:r>
            <a:r>
              <a:rPr lang="en-US" altLang="zh-TW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/</a:t>
            </a:r>
            <a:r>
              <a:rPr lang="zh-TW" alt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畫師</a:t>
            </a:r>
            <a:r>
              <a:rPr lang="en-US" altLang="zh-TW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/</a:t>
            </a:r>
            <a:r>
              <a:rPr lang="zh-TW" alt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工程師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345443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D0A7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把一段描述變成一個網頁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這一段的重點是「怎麼說」，不是「怎麼寫」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9436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kern="0" spc="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範例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7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沐森建案</a:t>
            </a:r>
            <a:endParaRPr lang="en-US" sz="7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2"/>
          <p:cNvSpPr/>
          <p:nvPr/>
        </p:nvSpPr>
        <p:spPr>
          <a:xfrm>
            <a:off x="594360" y="32004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一整份建案介紹網頁：建案名、生活尺度、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理念、規劃特色、格局表、聯絡方式。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從頭到尾沒有寫一行程式碼。</a:t>
            </a:r>
            <a:endParaRPr lang="en-US" sz="15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66C607D-AE2B-3F4F-35FD-A3D021F83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3838" y="0"/>
            <a:ext cx="673816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核心觀念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你不是在寫程式，是在描述需求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96596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2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「幫我做一個建案介紹網頁，建案叫沐森，在台中七期，主打面湖景觀，要有格局表和生活機能。」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361188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你已經懂了建案的基本知識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4251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4805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你已經有的能力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清楚描述一個建案該有什麼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17920" y="4251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44805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今天要練的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把這個描述講得讓 AI 接得住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同樣一件事，兩種說法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太模糊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651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「幫我做一個建案網站」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只能自己猜：什麼建案、賣點在哪、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要放哪些內容、給誰看。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結果就是一個很通用、跟你的案子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沒什麼關係的網頁。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講清楚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en-US" sz="1500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沐森，台中七期，低層電梯宅，主打面湖景觀。要有建案理念、格局表、生活機能、聯絡方式。調性沉靜有質感，不要像廣告傳單</a:t>
            </a:r>
            <a:r>
              <a:rPr lang="en-US" sz="15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。」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49377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</a:t>
            </a:r>
            <a:r>
              <a:rPr lang="zh-TW" alt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一些</a:t>
            </a:r>
            <a:r>
              <a:rPr lang="en-US" sz="1400" b="1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</a:t>
            </a: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</a:t>
            </a:r>
            <a:r>
              <a:rPr lang="en-US" sz="1400" b="1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省下反覆重做的時間</a:t>
            </a: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檢查清單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一個好指令，講滿這四件事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做什麼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794760" y="196596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一頁建案介紹網站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92608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926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92608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94760" y="292608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沐森，台中七期，低層電梯宅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4360" y="388620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88620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要有什麼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94760" y="388620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理念、特色、格局表、生活機能、聯絡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484632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846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84632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什麼調性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794760" y="484632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沉靜有質感，不要像廣告傳單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94360" y="58064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58064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四件事都講到</a:t>
            </a:r>
            <a:r>
              <a:rPr lang="zh-TW" altLang="en-US" sz="15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的話</a:t>
            </a:r>
            <a:r>
              <a:rPr lang="en-US" sz="15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，AI 第一次給的結果通常就有八成可用。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換你說說看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20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48840"/>
            <a:ext cx="10088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把這段填完，直接貼給 AI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2606040"/>
            <a:ext cx="10088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幫我做一個一頁式的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「＿＿＿＿」</a:t>
            </a: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介紹網頁。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它在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，主打的是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網頁要有：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＿＿＿＿、＿＿＿＿、＿＿＿＿</a:t>
            </a: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</a:t>
            </a:r>
            <a:r>
              <a:rPr lang="en-US" sz="1900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希望是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49834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不一定要是建案 —— </a:t>
            </a:r>
            <a:r>
              <a:rPr lang="en-US" sz="1500" dirty="0" err="1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部門介紹、活動報名、產品說明都可以。挑真的用得到的</a:t>
            </a:r>
            <a:r>
              <a:rPr lang="zh-TW" alt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</a:t>
            </a: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55321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做出來之後，先別急著調細節。整體對了再修。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卡住的時候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給的不是你要的？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377440"/>
            <a:ext cx="256032" cy="256032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7" name="Text 5"/>
          <p:cNvSpPr/>
          <p:nvPr/>
        </p:nvSpPr>
        <p:spPr>
          <a:xfrm>
            <a:off x="1508760" y="21122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不要重寫，用改的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08760" y="253288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「其他都好，只要把格局表改成四欄」——AI 會只動那一塊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3264408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3675888"/>
            <a:ext cx="256032" cy="256032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1" name="Text 9"/>
          <p:cNvSpPr/>
          <p:nvPr/>
        </p:nvSpPr>
        <p:spPr>
          <a:xfrm>
            <a:off x="1508760" y="34107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說「不要什麼」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3831336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「顏色太花，改成低彩度」比「弄好看一點」有用得多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4562856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" y="4974336"/>
            <a:ext cx="256032" cy="256032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5" name="Text 13"/>
          <p:cNvSpPr/>
          <p:nvPr/>
        </p:nvSpPr>
        <p:spPr>
          <a:xfrm>
            <a:off x="1508760" y="4709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給它參考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08760" y="5129784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「像 ○○ 那種質感」——有具體對象，AI 抓得比較準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C17A9F-1DE4-8F55-043D-6B38B15D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FD2E1BD-C854-4BB8-7A4C-E0BA25DCC06A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A689E4-D0E3-9C1C-883D-2DEE60707363}"/>
              </a:ext>
            </a:extLst>
          </p:cNvPr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latin typeface="微軟正黑體" panose="020B0604030504040204" pitchFamily="34" charset="-120"/>
              </a:rPr>
              <a:t>AI</a:t>
            </a:r>
            <a:r>
              <a:rPr lang="zh-TW" altLang="en-US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網頁設計 </a:t>
            </a:r>
            <a:r>
              <a:rPr lang="en-US" altLang="zh-TW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- ChatGPT</a:t>
            </a:r>
            <a:endParaRPr lang="en-US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00D75E6-21B6-0985-1ED2-4592620F0AD8}"/>
              </a:ext>
            </a:extLst>
          </p:cNvPr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BD655960-DFBB-AC76-7587-895D52DDF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559" y="2076297"/>
            <a:ext cx="8217568" cy="3804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540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CDE09-A6BC-0EA5-1570-BCFB98A2D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E468464-F520-D975-F6AE-A1885E462C72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91259AF-116D-7222-05D2-D45C5842B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5816" y="0"/>
            <a:ext cx="88003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27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8121B4-857A-1DE3-749F-AA21A6336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CC79EF-E8F0-0A7F-2A8D-9E1A6F52E2F8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6ADA708-14AC-147A-B505-5527454CC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492" y="327330"/>
            <a:ext cx="8521016" cy="6203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2798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28BC5F-6A3B-5282-5388-07B9FAE5C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E5CE35A-8917-DDF7-64F2-55751EED233B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DAE24F7-C7BA-A30B-598B-649108BBD885}"/>
              </a:ext>
            </a:extLst>
          </p:cNvPr>
          <p:cNvSpPr/>
          <p:nvPr/>
        </p:nvSpPr>
        <p:spPr>
          <a:xfrm>
            <a:off x="3578861" y="2015998"/>
            <a:ext cx="7800339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範例成品</a:t>
            </a:r>
            <a:endParaRPr lang="en-US" sz="8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6184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5E91C7-4ED3-AD6C-470E-920B0DD5B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363215A-45C0-AD01-3676-16467545213C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0627334-6F21-A1F2-384A-A7AED2227C8B}"/>
              </a:ext>
            </a:extLst>
          </p:cNvPr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7C69F824-E3B7-0AC3-FC21-DB9F25A023F4}"/>
              </a:ext>
            </a:extLst>
          </p:cNvPr>
          <p:cNvSpPr/>
          <p:nvPr/>
        </p:nvSpPr>
        <p:spPr>
          <a:xfrm>
            <a:off x="1038860" y="3364738"/>
            <a:ext cx="10410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66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NEXT STEP – </a:t>
            </a:r>
            <a:r>
              <a:rPr lang="zh-TW" altLang="en-US" sz="66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發揮你的創意</a:t>
            </a:r>
            <a:endParaRPr lang="en-US" altLang="zh-TW" sz="6600" dirty="0">
              <a:solidFill>
                <a:srgbClr val="8A6524"/>
              </a:solidFill>
              <a:latin typeface="微軟正黑體" panose="020B0604030504040204" pitchFamily="34" charset="-120"/>
              <a:ea typeface="Microsoft JhengHei" pitchFamily="34" charset="-122"/>
              <a:cs typeface="Microsoft JhengHei" pitchFamily="34" charset="-120"/>
            </a:endParaRPr>
          </a:p>
          <a:p>
            <a:pPr marL="0" indent="0" algn="ctr">
              <a:buNone/>
            </a:pPr>
            <a:r>
              <a:rPr lang="en-US" sz="6600" dirty="0">
                <a:latin typeface="微軟正黑體" panose="020B0604030504040204" pitchFamily="34" charset="-120"/>
              </a:rPr>
              <a:t>10 mins</a:t>
            </a:r>
          </a:p>
        </p:txBody>
      </p:sp>
    </p:spTree>
    <p:extLst>
      <p:ext uri="{BB962C8B-B14F-4D97-AF65-F5344CB8AC3E}">
        <p14:creationId xmlns:p14="http://schemas.microsoft.com/office/powerpoint/2010/main" val="406430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 err="1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加上自己的圖片</a:t>
            </a: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</a:t>
            </a:r>
            <a:r>
              <a:rPr lang="zh-TW" alt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新增功能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D0A7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把你部門拍的照片放上去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重點：網頁跟圖片檔，是怎麼連在一起的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525510" y="144145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525510" y="185293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同一個網站，</a:t>
            </a:r>
            <a:endParaRPr lang="en-US" sz="28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換上自己的照片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8525510" y="340741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文字、版面完全沒動。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只是多了資料夾裡的圖片檔。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從這一刻起，它不再是範例，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</a:t>
            </a:r>
            <a:r>
              <a:rPr lang="zh-TW" alt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真實的網站</a:t>
            </a:r>
            <a:endParaRPr lang="en-US" sz="1500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DD65B99-D67E-E8DF-9787-47AD5DAA0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1590"/>
            <a:ext cx="7328913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核心觀念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網頁不會把圖片存在裡面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011680"/>
            <a:ext cx="11002975" cy="1417320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01168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它只記住一件事：這張圖放在哪、叫什麼名字。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所以換照片，其實不用改網頁 —— 把檔案換掉就好。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4348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46451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78408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index.html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5413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決定版面長什麼樣、文字寫什麼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4348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46451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圖片資料夾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01968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images/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5413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放照片，網頁到這裡來拿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資料夾結構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: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32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603504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40280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1B1C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沐森網站/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index.html         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網頁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images/            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圖片資料夾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├─ xxxx.jpg      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首圖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├─ interior-1.jpg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客廳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├─ interior-2.jpg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主臥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└─ interior-3.jpg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大廳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0" y="1965960"/>
            <a:ext cx="4736592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0" y="22860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兩件事，分開放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223760" y="278892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網頁是一個檔案，照片是另外幾個檔案。</a:t>
            </a: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它們必須放在正確的相對位置，網頁才找得到照片。</a:t>
            </a: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整包資料夾一起複製、一起搬，就不會出問題。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54406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寄給同事的時候，要整個資料夾一起寄 —— 只寄 index.html 過去，圖會全部破掉。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網頁裡是這樣寫的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</a:t>
            </a:r>
            <a:r>
              <a:rPr lang="en-US" sz="32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這一行就夠了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1207008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965960"/>
            <a:ext cx="100885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A5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&lt;img src=</a:t>
            </a:r>
            <a:r>
              <a:rPr lang="en-US" sz="2600" b="1" dirty="0">
                <a:solidFill>
                  <a:srgbClr val="D0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"images/xxx.jpg"</a:t>
            </a:r>
            <a:r>
              <a:rPr lang="en-US" sz="2600" dirty="0">
                <a:solidFill>
                  <a:srgbClr val="A5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/&gt;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3474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3474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「這張圖在哪裡」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051560" y="4133088"/>
            <a:ext cx="100885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43159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images/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37560" y="431596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同一層有個叫 images 的資料夾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" y="4974336"/>
            <a:ext cx="100885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157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XXX.jpg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515721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資料夾裡有個叫</a:t>
            </a: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xxx.jpg 的檔案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051560" y="5815584"/>
            <a:ext cx="100885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那張圖是湖景還是你昨天在工地拍的，網頁不在意 —— 名字對就顯示。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9D83A3-5EA0-9506-0D21-EC19FD806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AEE7FBE-9A6F-4A62-8380-B05A5DE2E85E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91FCA43-F32F-004C-981A-CEB4482FAC64}"/>
              </a:ext>
            </a:extLst>
          </p:cNvPr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換你說說看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73F3BD9-D74D-A6B4-D30E-E04B56B6D6B0}"/>
              </a:ext>
            </a:extLst>
          </p:cNvPr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778891D-B390-C5C4-8E81-06E53E7D11F2}"/>
              </a:ext>
            </a:extLst>
          </p:cNvPr>
          <p:cNvSpPr/>
          <p:nvPr/>
        </p:nvSpPr>
        <p:spPr>
          <a:xfrm>
            <a:off x="594360" y="1920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3320751-A27E-D020-0E24-E9C9DD72F98A}"/>
              </a:ext>
            </a:extLst>
          </p:cNvPr>
          <p:cNvSpPr/>
          <p:nvPr/>
        </p:nvSpPr>
        <p:spPr>
          <a:xfrm>
            <a:off x="1051560" y="2148840"/>
            <a:ext cx="10088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把這段填完，直接貼給 AI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244FAC-2006-6CB8-2773-68DA5D2F2066}"/>
              </a:ext>
            </a:extLst>
          </p:cNvPr>
          <p:cNvSpPr/>
          <p:nvPr/>
        </p:nvSpPr>
        <p:spPr>
          <a:xfrm>
            <a:off x="1051560" y="2606040"/>
            <a:ext cx="10088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幫我把網頁加上換圖片功能</a:t>
            </a:r>
            <a:endParaRPr lang="en-US" sz="19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>
              <a:lnSpc>
                <a:spcPts val="4000"/>
              </a:lnSpc>
            </a:pP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讓我可以在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zh-TW" alt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換上</a:t>
            </a:r>
            <a:r>
              <a:rPr lang="zh-TW" alt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</a:t>
            </a:r>
            <a:endParaRPr lang="en-US" sz="1900" dirty="0"/>
          </a:p>
          <a:p>
            <a:pPr>
              <a:lnSpc>
                <a:spcPts val="4000"/>
              </a:lnSpc>
            </a:pP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圖片會放在</a:t>
            </a:r>
            <a:r>
              <a:rPr lang="en-US" altLang="zh-TW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</a:t>
            </a: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網頁資料夾</a:t>
            </a:r>
            <a:r>
              <a:rPr lang="en-US" altLang="zh-TW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/images</a:t>
            </a:r>
            <a:endParaRPr lang="en-US" sz="1900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1C1AC0D-283B-7DDC-FE12-9ECF6589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7826"/>
          <a:stretch>
            <a:fillRect/>
          </a:stretch>
        </p:blipFill>
        <p:spPr>
          <a:xfrm>
            <a:off x="6045047" y="2640330"/>
            <a:ext cx="2394103" cy="1214478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F716035-9110-B03B-2671-B123BD8730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46"/>
          <a:stretch>
            <a:fillRect/>
          </a:stretch>
        </p:blipFill>
        <p:spPr>
          <a:xfrm>
            <a:off x="7556244" y="4260850"/>
            <a:ext cx="3658111" cy="2362507"/>
          </a:xfrm>
          <a:prstGeom prst="rect">
            <a:avLst/>
          </a:prstGeom>
        </p:spPr>
      </p:pic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255E5B8B-C8F2-C1E3-08D0-646242973CEF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7626350" y="2921000"/>
            <a:ext cx="1758950" cy="133985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46507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操作步驟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換成自己的照片，兩種做法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2542032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改檔名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7840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3118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把你的照片改名成</a:t>
            </a: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xxx.jpg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3666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複製進 images 資料夾蓋掉原本那張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回瀏覽器按重新整理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78408" y="4846320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最簡單，完全不用碰程式碼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做法二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01968" y="2542032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改網頁裡的檔名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0196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95160" y="3118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照片放進 images，不用改名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01968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95160" y="3666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把網頁裡的</a:t>
            </a: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xxx.jpg 改成你的檔名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01968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存檔，重新整理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01968" y="4846320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照片多的時候比較好管理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56235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8408" y="5623560"/>
            <a:ext cx="102348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不會改？把需求講給 AI 聽就好：「照片放進 images 了，檔名是 工地實景.jpg，幫我把首圖換成這張」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排除問題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圖片破掉？先查這三件事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331720"/>
            <a:ext cx="365760" cy="36576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00200" y="21122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檔名有沒有完全一樣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2532888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xxx.jpg 和 XXX.jpg 可能被當成兩個不同檔案，大小寫要對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264408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3630168"/>
            <a:ext cx="365760" cy="36576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00200" y="341071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副檔名對不對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00200" y="3831336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手機照片常是 .jpeg 或 .HEIC，不是 .jpg —— 要嘛改網頁，要嘛轉存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4562856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8408" y="4928616"/>
            <a:ext cx="365760" cy="36576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7" name="Text 15"/>
          <p:cNvSpPr/>
          <p:nvPr/>
        </p:nvSpPr>
        <p:spPr>
          <a:xfrm>
            <a:off x="978408" y="4928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00200" y="4709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真的放進 images 了嗎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5129784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放在資料夾外面、或多包了一層，網頁都會找不到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電腦是照字面找檔案的 —— 差一個字母就是找不到。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0AB5F5-0127-F78A-A3FF-062302AF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17E37A8-6461-398A-4D53-C404B21527F5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6FDA51E-8181-5083-C2EA-F8BF8C347B84}"/>
              </a:ext>
            </a:extLst>
          </p:cNvPr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latin typeface="微軟正黑體" panose="020B0604030504040204" pitchFamily="34" charset="-120"/>
              </a:rPr>
              <a:t>AI</a:t>
            </a:r>
            <a:r>
              <a:rPr lang="zh-TW" altLang="en-US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網頁設計 </a:t>
            </a:r>
            <a:r>
              <a:rPr lang="en-US" altLang="zh-TW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– ChatGPT + Gemini</a:t>
            </a:r>
            <a:endParaRPr lang="en-US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FFCE66-BC6E-86CA-C7AF-F2D96D4BC27C}"/>
              </a:ext>
            </a:extLst>
          </p:cNvPr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E24F34D-29E8-78B2-CC89-292153952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58168"/>
            <a:ext cx="12192000" cy="3891063"/>
          </a:xfrm>
          <a:prstGeom prst="rect">
            <a:avLst/>
          </a:prstGeom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99AC7485-4A03-F74A-976C-8D30468285AC}"/>
              </a:ext>
            </a:extLst>
          </p:cNvPr>
          <p:cNvSpPr/>
          <p:nvPr/>
        </p:nvSpPr>
        <p:spPr>
          <a:xfrm>
            <a:off x="664210" y="1828399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GPT</a:t>
            </a:r>
            <a:endParaRPr lang="en-US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136742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CADAE1-01EB-CD7F-ECA9-55DB9BF25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CB91732-98A2-61EF-18D2-3A5EFCA4B212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8286982-2E5E-6D76-CC91-C402F0C22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3373" y="0"/>
            <a:ext cx="8585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9792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F3772-6DA5-A7A9-5375-870131AC1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3C20BE5-306A-4655-2E5F-BD4DAE695EB5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5095F31-8450-7EE1-88FF-B18779A78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457" y="1715264"/>
            <a:ext cx="4503474" cy="4820412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F5565FFC-6076-C37F-709A-AA45335E191E}"/>
              </a:ext>
            </a:extLst>
          </p:cNvPr>
          <p:cNvSpPr/>
          <p:nvPr/>
        </p:nvSpPr>
        <p:spPr>
          <a:xfrm>
            <a:off x="937260" y="950723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1.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桌面右鍵 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-&gt; 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新增資料夾 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-&gt; 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命名</a:t>
            </a:r>
            <a:endParaRPr lang="en-US" sz="3200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2FAE1695-4C01-486B-4BCB-A7FB66F07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5" y="2143041"/>
            <a:ext cx="1428949" cy="1200318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FE0A54F8-E668-FD4A-3EEE-C4FA3C5EDC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7229" y="2143041"/>
            <a:ext cx="1351051" cy="1188519"/>
          </a:xfrm>
          <a:prstGeom prst="rect">
            <a:avLst/>
          </a:prstGeom>
        </p:spPr>
      </p:pic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3F136F50-7271-20D6-D0FB-00CDCF4B8F98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 flipV="1">
            <a:off x="7153374" y="2737301"/>
            <a:ext cx="1873855" cy="58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 1">
            <a:extLst>
              <a:ext uri="{FF2B5EF4-FFF2-40B4-BE49-F238E27FC236}">
                <a16:creationId xmlns:a16="http://schemas.microsoft.com/office/drawing/2014/main" id="{A74EB16C-F22E-2A5A-7839-56A97834DC31}"/>
              </a:ext>
            </a:extLst>
          </p:cNvPr>
          <p:cNvSpPr/>
          <p:nvPr/>
        </p:nvSpPr>
        <p:spPr>
          <a:xfrm>
            <a:off x="7506371" y="202996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2.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放入</a:t>
            </a:r>
            <a:endParaRPr lang="en-US" sz="3200" dirty="0"/>
          </a:p>
        </p:txBody>
      </p:sp>
      <p:sp>
        <p:nvSpPr>
          <p:cNvPr id="37" name="Text 1">
            <a:extLst>
              <a:ext uri="{FF2B5EF4-FFF2-40B4-BE49-F238E27FC236}">
                <a16:creationId xmlns:a16="http://schemas.microsoft.com/office/drawing/2014/main" id="{02477C5D-FABD-0EEC-2D78-9D1E48611158}"/>
              </a:ext>
            </a:extLst>
          </p:cNvPr>
          <p:cNvSpPr/>
          <p:nvPr/>
        </p:nvSpPr>
        <p:spPr>
          <a:xfrm>
            <a:off x="7417471" y="3569204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3.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新增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images 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資料夾</a:t>
            </a:r>
            <a:endParaRPr lang="en-US" sz="3200" dirty="0"/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BAE2755B-F0A3-78F0-86B6-24C4015D76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3266" y="4368326"/>
            <a:ext cx="6211167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469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A3FBE-5D1B-F02A-40DB-F5AFD38A5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D66677E-A233-20C2-8B54-C80A3B8F3E0B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D9D9954-AFA9-52EC-2A31-484176F89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4503" y="933450"/>
            <a:ext cx="8859303" cy="5575300"/>
          </a:xfrm>
          <a:prstGeom prst="rect">
            <a:avLst/>
          </a:prstGeom>
        </p:spPr>
      </p:pic>
      <p:sp>
        <p:nvSpPr>
          <p:cNvPr id="12" name="Text 1">
            <a:extLst>
              <a:ext uri="{FF2B5EF4-FFF2-40B4-BE49-F238E27FC236}">
                <a16:creationId xmlns:a16="http://schemas.microsoft.com/office/drawing/2014/main" id="{BE75EDBE-CEC8-84EF-0ED6-F35D5DA62538}"/>
              </a:ext>
            </a:extLst>
          </p:cNvPr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Gemini – </a:t>
            </a:r>
            <a:r>
              <a:rPr lang="zh-TW" altLang="en-US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輸出高清版本圖片</a:t>
            </a:r>
            <a:endParaRPr lang="en-US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510739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96F080-2BD1-B9B2-1A2C-04E655FD5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3F20E07-A0EC-4C71-52F4-49F17CDA11FB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34BF3DC-7145-8303-9825-3998DF4EE5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2611" y="475488"/>
            <a:ext cx="9497669" cy="6029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9001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9866BB-D32C-54F0-9715-5FD3CF272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E3D4876-E3D3-979D-DBCA-F7CDCB5491AE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BE8EA77-F880-24F0-1FA3-EC4A440EA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705" y="0"/>
            <a:ext cx="8378190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8ED6276C-E0EC-E321-8F9B-1819DAAE37A5}"/>
                  </a:ext>
                </a:extLst>
              </p14:cNvPr>
              <p14:cNvContentPartPr/>
              <p14:nvPr/>
            </p14:nvContentPartPr>
            <p14:xfrm>
              <a:off x="7486470" y="1729740"/>
              <a:ext cx="1960425" cy="1099558"/>
            </p14:xfrm>
          </p:contentPart>
        </mc:Choice>
        <mc:Fallback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8ED6276C-E0EC-E321-8F9B-1819DAAE37A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80350" y="1723621"/>
                <a:ext cx="1972664" cy="1111795"/>
              </a:xfrm>
              <a:prstGeom prst="rect">
                <a:avLst/>
              </a:prstGeom>
            </p:spPr>
          </p:pic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E5AFCD20-3096-92E5-9CDA-B857DC1332E9}"/>
              </a:ext>
            </a:extLst>
          </p:cNvPr>
          <p:cNvCxnSpPr>
            <a:cxnSpLocks/>
          </p:cNvCxnSpPr>
          <p:nvPr/>
        </p:nvCxnSpPr>
        <p:spPr>
          <a:xfrm>
            <a:off x="8886825" y="2688721"/>
            <a:ext cx="560070" cy="124319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 1">
            <a:extLst>
              <a:ext uri="{FF2B5EF4-FFF2-40B4-BE49-F238E27FC236}">
                <a16:creationId xmlns:a16="http://schemas.microsoft.com/office/drawing/2014/main" id="{8DA4D0C3-A00F-B24C-0561-85EB1B779D10}"/>
              </a:ext>
            </a:extLst>
          </p:cNvPr>
          <p:cNvSpPr/>
          <p:nvPr/>
        </p:nvSpPr>
        <p:spPr>
          <a:xfrm>
            <a:off x="8886825" y="4028703"/>
            <a:ext cx="2856787" cy="307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命名為</a:t>
            </a:r>
            <a:r>
              <a:rPr lang="en-US" altLang="zh-TW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AI</a:t>
            </a:r>
            <a:r>
              <a:rPr lang="zh-TW" alt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給的檔名</a:t>
            </a:r>
            <a:endParaRPr lang="en-US" sz="2800" dirty="0"/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E2ACA29C-C59B-254B-6AE6-BF90031302D7}"/>
              </a:ext>
            </a:extLst>
          </p:cNvPr>
          <p:cNvSpPr/>
          <p:nvPr/>
        </p:nvSpPr>
        <p:spPr>
          <a:xfrm>
            <a:off x="8803005" y="4293502"/>
            <a:ext cx="8778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latin typeface="微軟正黑體" panose="020B0604030504040204" pitchFamily="34" charset="-120"/>
              </a:rPr>
              <a:t>例如</a:t>
            </a:r>
            <a:r>
              <a:rPr lang="en-US" altLang="zh-TW" sz="2000" b="1" dirty="0">
                <a:latin typeface="微軟正黑體" panose="020B0604030504040204" pitchFamily="34" charset="-120"/>
              </a:rPr>
              <a:t>: cover.jpg(</a:t>
            </a:r>
            <a:r>
              <a:rPr lang="zh-TW" altLang="en-US" sz="2000" b="1" dirty="0">
                <a:latin typeface="微軟正黑體" panose="020B0604030504040204" pitchFamily="34" charset="-120"/>
              </a:rPr>
              <a:t>大小寫注意</a:t>
            </a:r>
            <a:r>
              <a:rPr lang="en-US" altLang="zh-TW" sz="2000" b="1" dirty="0">
                <a:latin typeface="微軟正黑體" panose="020B0604030504040204" pitchFamily="34" charset="-120"/>
              </a:rPr>
              <a:t>)</a:t>
            </a:r>
            <a:endParaRPr lang="en-US" sz="2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0A7B869F-D82E-5721-0D55-AF804B850D8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5885" b="16582"/>
          <a:stretch>
            <a:fillRect/>
          </a:stretch>
        </p:blipFill>
        <p:spPr>
          <a:xfrm>
            <a:off x="9058009" y="5008232"/>
            <a:ext cx="2600591" cy="172412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30" name="筆跡 29">
                <a:extLst>
                  <a:ext uri="{FF2B5EF4-FFF2-40B4-BE49-F238E27FC236}">
                    <a16:creationId xmlns:a16="http://schemas.microsoft.com/office/drawing/2014/main" id="{73D12283-5508-326F-4A07-F7E87798E33C}"/>
                  </a:ext>
                </a:extLst>
              </p14:cNvPr>
              <p14:cNvContentPartPr/>
              <p14:nvPr/>
            </p14:nvContentPartPr>
            <p14:xfrm>
              <a:off x="10189278" y="5139973"/>
              <a:ext cx="1324542" cy="359819"/>
            </p14:xfrm>
          </p:contentPart>
        </mc:Choice>
        <mc:Fallback>
          <p:pic>
            <p:nvPicPr>
              <p:cNvPr id="30" name="筆跡 29">
                <a:extLst>
                  <a:ext uri="{FF2B5EF4-FFF2-40B4-BE49-F238E27FC236}">
                    <a16:creationId xmlns:a16="http://schemas.microsoft.com/office/drawing/2014/main" id="{73D12283-5508-326F-4A07-F7E87798E33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183158" y="5133856"/>
                <a:ext cx="1336783" cy="37205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96578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A8BC2E-2FF7-EE99-A568-F14326A98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B3D1E70-EA6D-F918-7B0D-98705E79C778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963A90E-D598-0707-FE03-E99F2FA71413}"/>
              </a:ext>
            </a:extLst>
          </p:cNvPr>
          <p:cNvSpPr/>
          <p:nvPr/>
        </p:nvSpPr>
        <p:spPr>
          <a:xfrm>
            <a:off x="2405381" y="2076958"/>
            <a:ext cx="7800339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範例成品</a:t>
            </a:r>
            <a:r>
              <a:rPr lang="en-US" altLang="zh-TW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(</a:t>
            </a:r>
            <a:r>
              <a:rPr lang="zh-TW" altLang="en-US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含圖</a:t>
            </a:r>
            <a:r>
              <a:rPr lang="en-US" altLang="zh-TW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)</a:t>
            </a:r>
            <a:endParaRPr lang="en-US" sz="8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133848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A05E07-6BFD-7F90-274C-F145983CE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E310B12-B00F-0321-42F6-7422BA343F91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3181D69-7C93-E975-A4F4-819C01A06659}"/>
              </a:ext>
            </a:extLst>
          </p:cNvPr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Claude – </a:t>
            </a:r>
            <a:r>
              <a:rPr lang="zh-TW" altLang="en-US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功能新增</a:t>
            </a:r>
            <a:endParaRPr lang="en-US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8F606A3-673D-6909-A037-A5B68B44C7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487" y="1645920"/>
            <a:ext cx="7960488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9748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CD95B-513D-D8EA-A72B-D3FDFEA89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EED3F4-D707-A110-1827-678473A9C4AA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B233891-8E47-651D-7318-77E48BFB2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9944" y="1501140"/>
            <a:ext cx="7128224" cy="524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894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7ABD32-5B94-785D-EEAD-1A2D47439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A6959F0-817F-C59C-078E-74CACBE7284A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AEF3D944-B1CD-E418-2191-DD1B86ED8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93" y="-44450"/>
            <a:ext cx="88452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3833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F640C6-38FE-7D41-F17E-85DBFF908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54AFAD5-3694-333A-8442-6ED7DE169DF8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latin typeface="微軟正黑體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F1E3E2-366C-363C-D736-D2C6FF04D688}"/>
              </a:ext>
            </a:extLst>
          </p:cNvPr>
          <p:cNvSpPr txBox="1"/>
          <p:nvPr/>
        </p:nvSpPr>
        <p:spPr>
          <a:xfrm>
            <a:off x="2184400" y="2705725"/>
            <a:ext cx="82931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zh-TW" altLang="en-US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範例成品</a:t>
            </a:r>
            <a:r>
              <a:rPr lang="en-US" altLang="zh-TW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(+</a:t>
            </a:r>
            <a:r>
              <a:rPr lang="zh-TW" altLang="en-US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功能</a:t>
            </a:r>
            <a:r>
              <a:rPr lang="en-US" altLang="zh-TW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)</a:t>
            </a:r>
            <a:endParaRPr lang="en-US" altLang="zh-TW" sz="8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134095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42358E-D330-8DB0-D8BF-C12F8BD8C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46F4C8A-2A79-6B93-3743-8B896E82EB1E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F5BB40F-3669-D14B-0EE1-36755C5F160C}"/>
              </a:ext>
            </a:extLst>
          </p:cNvPr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C401D610-5DDC-D581-9C1A-405B8FEB201F}"/>
              </a:ext>
            </a:extLst>
          </p:cNvPr>
          <p:cNvSpPr/>
          <p:nvPr/>
        </p:nvSpPr>
        <p:spPr>
          <a:xfrm>
            <a:off x="1038860" y="3364738"/>
            <a:ext cx="10410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66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NEXT STEP – </a:t>
            </a:r>
            <a:r>
              <a:rPr lang="zh-TW" altLang="en-US" sz="66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發揮你的創意</a:t>
            </a:r>
            <a:endParaRPr lang="en-US" altLang="zh-TW" sz="6600" dirty="0">
              <a:solidFill>
                <a:srgbClr val="8A6524"/>
              </a:solidFill>
              <a:latin typeface="微軟正黑體" panose="020B0604030504040204" pitchFamily="34" charset="-120"/>
              <a:ea typeface="Microsoft JhengHei" pitchFamily="34" charset="-122"/>
              <a:cs typeface="Microsoft JhengHei" pitchFamily="34" charset="-120"/>
            </a:endParaRPr>
          </a:p>
          <a:p>
            <a:pPr marL="0" indent="0" algn="ctr">
              <a:buNone/>
            </a:pPr>
            <a:r>
              <a:rPr lang="en-US" sz="6600" dirty="0">
                <a:latin typeface="微軟正黑體" panose="020B0604030504040204" pitchFamily="34" charset="-120"/>
              </a:rPr>
              <a:t>10 mins</a:t>
            </a:r>
          </a:p>
        </p:txBody>
      </p:sp>
    </p:spTree>
    <p:extLst>
      <p:ext uri="{BB962C8B-B14F-4D97-AF65-F5344CB8AC3E}">
        <p14:creationId xmlns:p14="http://schemas.microsoft.com/office/powerpoint/2010/main" val="3341350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8FB3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8FB3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進度表變成看得懂的圖表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從「做內容」換到「處理資料」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3.jpg"/>
          <p:cNvPicPr>
            <a:picLocks noChangeAspect="1"/>
          </p:cNvPicPr>
          <p:nvPr/>
        </p:nvPicPr>
        <p:blipFill>
          <a:blip r:embed="rId3"/>
          <a:srcRect l="16388" r="19667"/>
          <a:stretch>
            <a:fillRect/>
          </a:stretch>
        </p:blipFill>
        <p:spPr>
          <a:xfrm>
            <a:off x="5854700" y="0"/>
            <a:ext cx="4297680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59436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一張表格，</a:t>
            </a:r>
            <a:endParaRPr lang="en-US" sz="28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變成一眼看懂的畫面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94360" y="3520440"/>
            <a:ext cx="4297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同樣七個案場的數字。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Excel 裡要一格一格看，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在這裡三秒就知道哪兩個落後。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這就是儀表板存在的理由。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換一種任務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這一段換了一種任務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前兩階段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做內容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8408" y="324612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你決定要放什麼字、什麼圖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78408" y="379476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幫你排版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7840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好不好看是主觀的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3556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這一階段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0196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處理資料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01968" y="324612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資料是既有的，不能亂改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01968" y="379476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幫你決定怎麼呈現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0196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對不對是客觀的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5349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5349240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好消息：資料本來就在你手上。每週在填的進度表，就是原料</a:t>
            </a: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關於資料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看得懂的表格長什麼樣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這種 AI 會做不好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69748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標題列中間有空白行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" y="320954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合併儲存格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372160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一格裡塞好幾個資訊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423367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數字後面帶單位（68%、180戶）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745736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同一欄有中文也有數字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3556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21284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這種一次就成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01968" y="269748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第一列就是欄位名稱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01968" y="320954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一格一個資訊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372160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數字就是純數字，不帶單位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423367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沒有合併儲存格、沒有空行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01968" y="4745736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每一列代表一個案場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58064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整理資料花的十分鐘，比事後修圖表的一小時划算。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欄位對應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六個欄位，變成畫面上的什麼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9659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案名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77640" y="19659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26280" y="196596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表格第一欄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2606040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7523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977640" y="275234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75234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表格第二欄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3392424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53872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完成率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977640" y="353872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26280" y="353872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進度條的長度 · 顏色深淺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4178808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325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已售戶數 / 總戶數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977640" y="432511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26280" y="43251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上方的銷售率大數字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94360" y="4965192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511149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977640" y="511149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6280" y="511149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右邊的標籤（正常 / 落後 / 即將完工）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5751576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你不用決定「怎麼畫」，只要決定「哪些欄位重要」。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把你部門的表格丟進去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挑一張表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51960" y="19659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你每週或每月都要看的那張，不用太大，十列以內就夠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整理乾淨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51960" y="297180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照前一頁的原則：一格一個資訊、數字不帶單位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描述你要看什麼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251960" y="397764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「幫我做成儀表板，最上面要看到平均進度和落後幾個」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98348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看結果，再修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51960" y="498348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顏色、排序、要強調哪一欄，都可以再對話調整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沒有現成資料的人，用主辦提供的建案範例檔就好。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C60BC3-E47C-F73E-DF7A-0CAB83B62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EBFD941-AB0F-8C5A-6AA3-37EF2BF7DE91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18BA5631-FAB2-5F2E-786F-C9FE23275CE3}"/>
              </a:ext>
            </a:extLst>
          </p:cNvPr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Claude – </a:t>
            </a:r>
            <a:r>
              <a:rPr lang="zh-TW" altLang="en-US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儀錶板</a:t>
            </a:r>
            <a:endParaRPr lang="en-US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04F028F8-B54F-C9D4-FE20-0F4C63063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536" y="1443381"/>
            <a:ext cx="9642622" cy="5262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8417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50E571-6C47-B6A3-E2E8-9ECC212C6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3E7A689-59B9-7E02-30B2-7C54CE3F7C15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46ECA51-8AC4-F61A-5EE2-30B4A1540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" y="1222248"/>
            <a:ext cx="10005060" cy="488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592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F23A33-BA28-684A-9AED-0B733E619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F36D653-BA89-394D-9084-4E003A3974A7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9C3029C-0F9A-8998-379A-66CFD0E8824B}"/>
              </a:ext>
            </a:extLst>
          </p:cNvPr>
          <p:cNvSpPr txBox="1"/>
          <p:nvPr/>
        </p:nvSpPr>
        <p:spPr>
          <a:xfrm>
            <a:off x="3550920" y="2752068"/>
            <a:ext cx="47625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範例成品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15330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654710-18AF-4192-C78D-9CC64F4C5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1E2C136-B136-97CF-CC3B-658B01D03D5E}"/>
              </a:ext>
            </a:extLst>
          </p:cNvPr>
          <p:cNvSpPr/>
          <p:nvPr/>
        </p:nvSpPr>
        <p:spPr>
          <a:xfrm>
            <a:off x="1038860" y="3364738"/>
            <a:ext cx="10410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6600" dirty="0">
                <a:solidFill>
                  <a:srgbClr val="35566B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NEXT STEP – </a:t>
            </a:r>
            <a:r>
              <a:rPr lang="zh-TW" altLang="en-US" sz="6600" dirty="0">
                <a:solidFill>
                  <a:srgbClr val="35566B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發揮你的創意</a:t>
            </a:r>
            <a:endParaRPr lang="en-US" altLang="zh-TW" sz="6600" dirty="0">
              <a:solidFill>
                <a:srgbClr val="35566B"/>
              </a:solidFill>
              <a:latin typeface="微軟正黑體" panose="020B0604030504040204" pitchFamily="34" charset="-120"/>
              <a:ea typeface="Microsoft JhengHei" pitchFamily="34" charset="-122"/>
              <a:cs typeface="Microsoft JhengHei" pitchFamily="34" charset="-120"/>
            </a:endParaRPr>
          </a:p>
          <a:p>
            <a:pPr marL="0" indent="0" algn="ctr">
              <a:buNone/>
            </a:pPr>
            <a:r>
              <a:rPr lang="en-US" sz="6600" dirty="0">
                <a:latin typeface="微軟正黑體" panose="020B0604030504040204" pitchFamily="34" charset="-120"/>
              </a:rPr>
              <a:t>10 mins</a:t>
            </a:r>
          </a:p>
        </p:txBody>
      </p:sp>
    </p:spTree>
    <p:extLst>
      <p:ext uri="{BB962C8B-B14F-4D97-AF65-F5344CB8AC3E}">
        <p14:creationId xmlns:p14="http://schemas.microsoft.com/office/powerpoint/2010/main" val="31992241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這一版的限制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但這一版有個麻煩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011680"/>
            <a:ext cx="11002975" cy="1371600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01168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數字是寫死在網頁裡的。資料一變，就要整個重做一次。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3703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把本週數字給 AI，生出一份網頁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4416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441655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數字更新了 —— 再給一次，再生一份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512978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下下週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31720" y="512978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再一次⋯⋯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下一段就是要解決這件事。</a:t>
            </a:r>
            <a:endParaRPr lang="en-US" sz="17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8FB3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8FB3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換一份資料，畫面自己重算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順便看清楚：這種做法的邊界在哪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4.jpg"/>
          <p:cNvPicPr>
            <a:picLocks noChangeAspect="1"/>
          </p:cNvPicPr>
          <p:nvPr/>
        </p:nvPicPr>
        <p:blipFill>
          <a:blip r:embed="rId3"/>
          <a:srcRect l="19369" r="16761"/>
          <a:stretch>
            <a:fillRect/>
          </a:stretch>
        </p:blipFill>
        <p:spPr>
          <a:xfrm>
            <a:off x="996950" y="0"/>
            <a:ext cx="4292600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6332220" y="137795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成品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332220" y="178943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多了一顆「上傳</a:t>
            </a: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按鈕</a:t>
            </a: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332220" y="297815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選一個檔案，所有數字、進度條、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標籤全部重算。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下週要更新報表，換檔案就好，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不用再找 AI 重做一次。</a:t>
            </a:r>
            <a:endParaRPr lang="en-US" sz="16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46283A5-BCE9-6D1F-F252-7FB613EEA800}"/>
              </a:ext>
            </a:extLst>
          </p:cNvPr>
          <p:cNvSpPr/>
          <p:nvPr/>
        </p:nvSpPr>
        <p:spPr>
          <a:xfrm>
            <a:off x="1250950" y="4425950"/>
            <a:ext cx="2622550" cy="89535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同一份儀表板，差在哪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數字寫死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78408" y="3200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更新資料 = 重做一份網頁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373075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適合一次性的簡報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426110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檔案會愈積愈多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3556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0196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可以換資料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601968" y="3200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更新資料 = 換一個檔案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01968" y="373075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適合每週固定要出的報表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426110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網頁只要一份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525780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5257800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多學的那一件事：讓網頁自己去讀檔案，而不是把答案先寫進去。</a:t>
            </a:r>
            <a:endParaRPr lang="en-US" sz="1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F1496B-13A6-3568-8CA7-C46FCAEE4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E3560CF-E9F4-A8FE-FC24-D238B999619D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F7A103F-D3E7-B631-5018-7A3CEA9AF73B}"/>
              </a:ext>
            </a:extLst>
          </p:cNvPr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787DDED9-B7A5-B97E-F1B1-6BB0AE508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646" y="791009"/>
            <a:ext cx="9227454" cy="559150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B814EAB8-65F0-53D6-9A10-937A24F387EE}"/>
                  </a:ext>
                </a:extLst>
              </p14:cNvPr>
              <p14:cNvContentPartPr/>
              <p14:nvPr/>
            </p14:nvContentPartPr>
            <p14:xfrm>
              <a:off x="3009900" y="5835650"/>
              <a:ext cx="6845300" cy="588063"/>
            </p14:xfrm>
          </p:contentPart>
        </mc:Choice>
        <mc:Fallback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B814EAB8-65F0-53D6-9A10-937A24F387E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03779" y="5829528"/>
                <a:ext cx="6857542" cy="60030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329676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</a:t>
            </a:r>
            <a:endParaRPr lang="en-US" sz="1200" dirty="0">
              <a:solidFill>
                <a:srgbClr val="35566B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CSV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小提醒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965960"/>
            <a:ext cx="100885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另存新檔時，一定要選「CSV UTF-8（逗號分隔）」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374904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選錯會怎樣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78408" y="4206240"/>
            <a:ext cx="4626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版 Excel 預設存的是 Big5 編碼，網頁讀進去中文會整片變亂碼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5204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374904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怎麼確認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01968" y="4206240"/>
            <a:ext cx="4626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另存新檔的下拉選單裡，找有寫「UTF-8」那一個，不是最上面那個「CSV」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A556BA-0589-D313-03BA-7FE283EC6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198B78D-1E81-7FFF-68CA-3C3B5EC9328C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solidFill>
                <a:srgbClr val="35566B"/>
              </a:solidFill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CCE7C6A-576E-D4F6-256B-E5F35FD7DBC8}"/>
              </a:ext>
            </a:extLst>
          </p:cNvPr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38567A2C-22A4-37E5-4973-4726417B43D6}"/>
                  </a:ext>
                </a:extLst>
              </p14:cNvPr>
              <p14:cNvContentPartPr/>
              <p14:nvPr/>
            </p14:nvContentPartPr>
            <p14:xfrm>
              <a:off x="3009900" y="5835650"/>
              <a:ext cx="6845300" cy="588063"/>
            </p14:xfrm>
          </p:contentPart>
        </mc:Choice>
        <mc:Fallback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38567A2C-22A4-37E5-4973-4726417B43D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03779" y="5829528"/>
                <a:ext cx="6857542" cy="600307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12BEFD1D-31A2-9D0A-150F-8DFB280D67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286" y="0"/>
            <a:ext cx="81274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3851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6E3F0D-0585-CABE-C06E-2E7CA518A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6931CCC-C34A-CC9E-D9A4-4AF6D8A2119A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>
              <a:solidFill>
                <a:srgbClr val="35566B"/>
              </a:solidFill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431C27E-62BD-276A-4B3E-8EA46D5956C8}"/>
              </a:ext>
            </a:extLst>
          </p:cNvPr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518B27D-5A47-B5E6-E090-FF129B7F3059}"/>
              </a:ext>
            </a:extLst>
          </p:cNvPr>
          <p:cNvSpPr txBox="1"/>
          <p:nvPr/>
        </p:nvSpPr>
        <p:spPr>
          <a:xfrm>
            <a:off x="1870557" y="2767286"/>
            <a:ext cx="845058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範例成品</a:t>
            </a:r>
            <a:r>
              <a:rPr lang="en-US" altLang="zh-TW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(+</a:t>
            </a:r>
            <a:r>
              <a:rPr lang="zh-TW" altLang="en-US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功能</a:t>
            </a:r>
            <a:r>
              <a:rPr lang="en-US" altLang="zh-TW" sz="88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3" action="ppaction://hlinkfile"/>
              </a:rPr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786369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1D9A9C-926D-E78E-3708-C2774DFFD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27820C5-FE8C-D516-2985-227337B215CE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8ECE940-392B-8A2D-6F3F-088CDF2122F1}"/>
              </a:ext>
            </a:extLst>
          </p:cNvPr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151268DE-141D-CEE1-5A5E-C473F9DA4E7C}"/>
              </a:ext>
            </a:extLst>
          </p:cNvPr>
          <p:cNvSpPr/>
          <p:nvPr/>
        </p:nvSpPr>
        <p:spPr>
          <a:xfrm>
            <a:off x="1038860" y="3364738"/>
            <a:ext cx="10410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66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NEXT STEP – </a:t>
            </a:r>
            <a:r>
              <a:rPr lang="zh-TW" altLang="en-US" sz="6600" dirty="0">
                <a:solidFill>
                  <a:srgbClr val="8A6524"/>
                </a:solidFill>
                <a:latin typeface="微軟正黑體" panose="020B0604030504040204" pitchFamily="34" charset="-120"/>
                <a:ea typeface="Microsoft JhengHei" pitchFamily="34" charset="-122"/>
                <a:cs typeface="Microsoft JhengHei" pitchFamily="34" charset="-120"/>
              </a:rPr>
              <a:t>發揮你的創意</a:t>
            </a:r>
            <a:endParaRPr lang="en-US" altLang="zh-TW" sz="6600" dirty="0">
              <a:solidFill>
                <a:srgbClr val="8A6524"/>
              </a:solidFill>
              <a:latin typeface="微軟正黑體" panose="020B0604030504040204" pitchFamily="34" charset="-120"/>
              <a:ea typeface="Microsoft JhengHei" pitchFamily="34" charset="-122"/>
              <a:cs typeface="Microsoft JhengHei" pitchFamily="34" charset="-120"/>
            </a:endParaRPr>
          </a:p>
          <a:p>
            <a:pPr marL="0" indent="0" algn="ctr">
              <a:buNone/>
            </a:pPr>
            <a:r>
              <a:rPr lang="en-US" sz="6600" dirty="0">
                <a:latin typeface="微軟正黑體" panose="020B0604030504040204" pitchFamily="34" charset="-120"/>
              </a:rPr>
              <a:t>10 mins</a:t>
            </a:r>
          </a:p>
        </p:txBody>
      </p:sp>
    </p:spTree>
    <p:extLst>
      <p:ext uri="{BB962C8B-B14F-4D97-AF65-F5344CB8AC3E}">
        <p14:creationId xmlns:p14="http://schemas.microsoft.com/office/powerpoint/2010/main" val="27940738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</a:t>
            </a:r>
            <a:r>
              <a:rPr lang="zh-TW" alt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</a:t>
            </a: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換一份資料，看畫面自己算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先用範例檔跑一次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71500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確認上傳流程會動，知道畫面會怎麼變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換成自己的資料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71500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欄位名稱對上，存成 CSV UTF-8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故意改幾個數字再上傳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71500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KPI 跟著跳 —— 這就是「互動」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98348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想想這能用在你哪份報表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715000" y="49834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每週要做的那份，是不是可以省下來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第四步才是重點 —— </a:t>
            </a:r>
            <a:r>
              <a:rPr lang="en-US" sz="1500" b="1" dirty="0" err="1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做出來只是開始，用得上才</a:t>
            </a:r>
            <a:r>
              <a:rPr lang="zh-TW" alt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是真正的</a:t>
            </a:r>
            <a:r>
              <a:rPr lang="en-US" sz="1500" b="1" dirty="0" err="1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</a:t>
            </a: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一個要記住的邊界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011680"/>
            <a:ext cx="11002975" cy="1371600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01168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這是「快照」，不是「即時系統」。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94360" y="365760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88620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做得到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840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上傳檔案，畫面立刻重算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85546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完全不需要伺服器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536752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資料不會外流，只在你電腦裡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65760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388620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做不到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0196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關掉頁面，上傳的資料就沒了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485546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別人打開看不到你的資料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536752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資料源頭改了，不會自動同步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</a:t>
            </a:r>
            <a:endParaRPr lang="en-US" sz="1200" dirty="0">
              <a:solidFill>
                <a:srgbClr val="35566B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你今天學會的四件事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20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2024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92024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把需求講清楚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623560" y="192024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四個要素：做什麼、關於誰、要有什麼、什麼調性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97180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91640" y="297180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檔案怎麼跟網頁連結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623560" y="297180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網頁只記住圖片放在哪，換檔案就換圖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40233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402336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91640" y="402336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資料怎麼變成畫面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623560" y="402336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先整理乾淨，再決定哪一欄要被強調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507492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507492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91640" y="507492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靜態與互動的差別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623560" y="507492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以及什麼時候該找工程師幫忙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再往下一步</a:t>
            </a:r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什麼時候才真的需要工程師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916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以下三種需求，超出今天教的範圍 —— 但你已經知道怎麼把需求講清楚了。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28600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651760"/>
            <a:ext cx="292608" cy="29260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3957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多人同時看同一份資料</a:t>
            </a: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81635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業務改了數字，主管那邊要立刻看到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493008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3858768"/>
            <a:ext cx="292608" cy="29260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360273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資料要長期累積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40233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要能查半年前的進度，做趨勢比較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700016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5065776"/>
            <a:ext cx="292608" cy="29260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48097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自動從別的系統抓資料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23036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不想每次手動匯出 Excel 再上傳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知道邊界在哪，也是一種專業 —— 你會知道什麼時候該找人幫忙。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帶回去用</a:t>
            </a:r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回去可以先做哪一件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258568"/>
            <a:ext cx="274320" cy="274320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7" name="Text 5"/>
          <p:cNvSpPr/>
          <p:nvPr/>
        </p:nvSpPr>
        <p:spPr>
          <a:xfrm>
            <a:off x="150876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工地週報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08760" y="2679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把每週的進度表做成儀表板，開會直接投影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01968" y="2258568"/>
            <a:ext cx="274320" cy="27432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建案介紹頁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32320" y="2679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新案子的簡介，不用等廣告公司排版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70332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" y="3995928"/>
            <a:ext cx="274320" cy="27432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5" name="Text 13"/>
          <p:cNvSpPr/>
          <p:nvPr/>
        </p:nvSpPr>
        <p:spPr>
          <a:xfrm>
            <a:off x="1508760" y="39044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內部活動報名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508760" y="4416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尾牙、教育訓練的說明頁，自己一小時做完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01968" y="3995928"/>
            <a:ext cx="274320" cy="274320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39044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銷售日報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132320" y="4416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把每日成交數字做成一頁，主管自己看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挑最小、最常做、最煩的那一件開始</a:t>
            </a:r>
            <a:r>
              <a:rPr lang="en-US" sz="16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。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031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</a:rPr>
              <a:t>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200"/>
              </a:lnSpc>
              <a:buNone/>
            </a:pPr>
            <a:r>
              <a:rPr lang="en-US" sz="3600" b="1" dirty="0" err="1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缺的從來不是技術</a:t>
            </a:r>
            <a:r>
              <a:rPr lang="en-US" sz="3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endParaRPr lang="en-US" sz="36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600" b="1" dirty="0" err="1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是有人告訴你「You</a:t>
            </a:r>
            <a:r>
              <a:rPr lang="en-US" sz="3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Can Do It!」。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4709160"/>
            <a:ext cx="2926080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983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課後材料：四個階段的完整範例，都在共用資料夾裡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1908</Words>
  <Application>Microsoft Office PowerPoint</Application>
  <PresentationFormat>寬螢幕</PresentationFormat>
  <Paragraphs>531</Paragraphs>
  <Slides>62</Slides>
  <Notes>62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62</vt:i4>
      </vt:variant>
    </vt:vector>
  </HeadingPairs>
  <TitlesOfParts>
    <vt:vector size="67" baseType="lpstr">
      <vt:lpstr>Microsoft JhengHei</vt:lpstr>
      <vt:lpstr>Microsoft JhengHei</vt:lpstr>
      <vt:lpstr>Arial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三小時，做出自己的網頁</dc:title>
  <dc:subject>PptxGenJS Presentation</dc:subject>
  <dc:creator>vibe coding 工作坊</dc:creator>
  <cp:lastModifiedBy>彥安 吉</cp:lastModifiedBy>
  <cp:revision>26</cp:revision>
  <dcterms:created xsi:type="dcterms:W3CDTF">2026-08-11T01:03:17Z</dcterms:created>
  <dcterms:modified xsi:type="dcterms:W3CDTF">2026-09-07T06:44:08Z</dcterms:modified>
</cp:coreProperties>
</file>